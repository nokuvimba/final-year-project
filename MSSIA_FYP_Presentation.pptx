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7" r:id="rId2"/>
    <p:sldId id="256" r:id="rId3"/>
    <p:sldId id="258" r:id="rId4"/>
    <p:sldId id="257" r:id="rId5"/>
    <p:sldId id="264" r:id="rId6"/>
    <p:sldId id="260" r:id="rId7"/>
    <p:sldId id="265" r:id="rId8"/>
    <p:sldId id="262" r:id="rId9"/>
    <p:sldId id="261"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1032"/>
    <a:srgbClr val="1617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73B49A-ADB0-E140-B089-F09665F9F270}" v="37" dt="2026-04-27T19:44:59.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04"/>
    <p:restoredTop sz="94610"/>
  </p:normalViewPr>
  <p:slideViewPr>
    <p:cSldViewPr snapToGrid="0" snapToObjects="1">
      <p:cViewPr varScale="1">
        <p:scale>
          <a:sx n="168" d="100"/>
          <a:sy n="168"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KUVIMBA CHIYAKA - STUDENT" userId="d1558cf6-0db9-40d2-8f30-9a2269469496" providerId="ADAL" clId="{8DA065B2-5538-5ECB-9B51-24092B338497}"/>
    <pc:docChg chg="undo custSel addSld delSld modSld sldOrd">
      <pc:chgData name="NOKUVIMBA CHIYAKA - STUDENT" userId="d1558cf6-0db9-40d2-8f30-9a2269469496" providerId="ADAL" clId="{8DA065B2-5538-5ECB-9B51-24092B338497}" dt="2026-04-27T21:34:05.661" v="249" actId="478"/>
      <pc:docMkLst>
        <pc:docMk/>
      </pc:docMkLst>
      <pc:sldChg chg="addSp delSp modSp mod setBg">
        <pc:chgData name="NOKUVIMBA CHIYAKA - STUDENT" userId="d1558cf6-0db9-40d2-8f30-9a2269469496" providerId="ADAL" clId="{8DA065B2-5538-5ECB-9B51-24092B338497}" dt="2026-04-27T19:44:34.393" v="243"/>
        <pc:sldMkLst>
          <pc:docMk/>
          <pc:sldMk cId="0" sldId="256"/>
        </pc:sldMkLst>
        <pc:spChg chg="mod">
          <ac:chgData name="NOKUVIMBA CHIYAKA - STUDENT" userId="d1558cf6-0db9-40d2-8f30-9a2269469496" providerId="ADAL" clId="{8DA065B2-5538-5ECB-9B51-24092B338497}" dt="2026-04-26T14:33:15.997" v="44" actId="20577"/>
          <ac:spMkLst>
            <pc:docMk/>
            <pc:sldMk cId="0" sldId="256"/>
            <ac:spMk id="3" creationId="{00000000-0000-0000-0000-000000000000}"/>
          </ac:spMkLst>
        </pc:spChg>
        <pc:spChg chg="add del mod">
          <ac:chgData name="NOKUVIMBA CHIYAKA - STUDENT" userId="d1558cf6-0db9-40d2-8f30-9a2269469496" providerId="ADAL" clId="{8DA065B2-5538-5ECB-9B51-24092B338497}" dt="2026-04-27T19:44:32.998" v="242"/>
          <ac:spMkLst>
            <pc:docMk/>
            <pc:sldMk cId="0" sldId="256"/>
            <ac:spMk id="7" creationId="{D5EC71C3-BFD2-B9CB-80D9-24B01D6F274D}"/>
          </ac:spMkLst>
        </pc:spChg>
      </pc:sldChg>
      <pc:sldChg chg="modSp mod">
        <pc:chgData name="NOKUVIMBA CHIYAKA - STUDENT" userId="d1558cf6-0db9-40d2-8f30-9a2269469496" providerId="ADAL" clId="{8DA065B2-5538-5ECB-9B51-24092B338497}" dt="2026-04-27T17:46:43.870" v="207" actId="20577"/>
        <pc:sldMkLst>
          <pc:docMk/>
          <pc:sldMk cId="0" sldId="257"/>
        </pc:sldMkLst>
        <pc:spChg chg="mod">
          <ac:chgData name="NOKUVIMBA CHIYAKA - STUDENT" userId="d1558cf6-0db9-40d2-8f30-9a2269469496" providerId="ADAL" clId="{8DA065B2-5538-5ECB-9B51-24092B338497}" dt="2026-04-27T17:46:43.870" v="207" actId="20577"/>
          <ac:spMkLst>
            <pc:docMk/>
            <pc:sldMk cId="0" sldId="257"/>
            <ac:spMk id="20" creationId="{00000000-0000-0000-0000-000000000000}"/>
          </ac:spMkLst>
        </pc:spChg>
      </pc:sldChg>
      <pc:sldChg chg="ord setBg">
        <pc:chgData name="NOKUVIMBA CHIYAKA - STUDENT" userId="d1558cf6-0db9-40d2-8f30-9a2269469496" providerId="ADAL" clId="{8DA065B2-5538-5ECB-9B51-24092B338497}" dt="2026-04-27T19:44:12.839" v="239"/>
        <pc:sldMkLst>
          <pc:docMk/>
          <pc:sldMk cId="0" sldId="258"/>
        </pc:sldMkLst>
      </pc:sldChg>
      <pc:sldChg chg="del">
        <pc:chgData name="NOKUVIMBA CHIYAKA - STUDENT" userId="d1558cf6-0db9-40d2-8f30-9a2269469496" providerId="ADAL" clId="{8DA065B2-5538-5ECB-9B51-24092B338497}" dt="2026-04-26T14:40:01.202" v="47" actId="2696"/>
        <pc:sldMkLst>
          <pc:docMk/>
          <pc:sldMk cId="0" sldId="259"/>
        </pc:sldMkLst>
      </pc:sldChg>
      <pc:sldChg chg="setBg">
        <pc:chgData name="NOKUVIMBA CHIYAKA - STUDENT" userId="d1558cf6-0db9-40d2-8f30-9a2269469496" providerId="ADAL" clId="{8DA065B2-5538-5ECB-9B51-24092B338497}" dt="2026-04-27T19:44:44.260" v="244"/>
        <pc:sldMkLst>
          <pc:docMk/>
          <pc:sldMk cId="0" sldId="260"/>
        </pc:sldMkLst>
      </pc:sldChg>
      <pc:sldChg chg="ord setBg">
        <pc:chgData name="NOKUVIMBA CHIYAKA - STUDENT" userId="d1558cf6-0db9-40d2-8f30-9a2269469496" providerId="ADAL" clId="{8DA065B2-5538-5ECB-9B51-24092B338497}" dt="2026-04-27T21:33:22.395" v="247" actId="20578"/>
        <pc:sldMkLst>
          <pc:docMk/>
          <pc:sldMk cId="0" sldId="261"/>
        </pc:sldMkLst>
      </pc:sldChg>
      <pc:sldChg chg="addSp delSp modSp add del mod ord setBg">
        <pc:chgData name="NOKUVIMBA CHIYAKA - STUDENT" userId="d1558cf6-0db9-40d2-8f30-9a2269469496" providerId="ADAL" clId="{8DA065B2-5538-5ECB-9B51-24092B338497}" dt="2026-04-27T21:33:26.874" v="248" actId="20578"/>
        <pc:sldMkLst>
          <pc:docMk/>
          <pc:sldMk cId="0" sldId="262"/>
        </pc:sldMkLst>
        <pc:spChg chg="del">
          <ac:chgData name="NOKUVIMBA CHIYAKA - STUDENT" userId="d1558cf6-0db9-40d2-8f30-9a2269469496" providerId="ADAL" clId="{8DA065B2-5538-5ECB-9B51-24092B338497}" dt="2026-04-26T14:45:53.015" v="67" actId="478"/>
          <ac:spMkLst>
            <pc:docMk/>
            <pc:sldMk cId="0" sldId="262"/>
            <ac:spMk id="4"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5"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7"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8"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14"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15"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16"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17"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19" creationId="{00000000-0000-0000-0000-000000000000}"/>
          </ac:spMkLst>
        </pc:spChg>
        <pc:spChg chg="del">
          <ac:chgData name="NOKUVIMBA CHIYAKA - STUDENT" userId="d1558cf6-0db9-40d2-8f30-9a2269469496" providerId="ADAL" clId="{8DA065B2-5538-5ECB-9B51-24092B338497}" dt="2026-04-26T14:45:53.015" v="67" actId="478"/>
          <ac:spMkLst>
            <pc:docMk/>
            <pc:sldMk cId="0" sldId="262"/>
            <ac:spMk id="20" creationId="{00000000-0000-0000-0000-000000000000}"/>
          </ac:spMkLst>
        </pc:spChg>
        <pc:spChg chg="del">
          <ac:chgData name="NOKUVIMBA CHIYAKA - STUDENT" userId="d1558cf6-0db9-40d2-8f30-9a2269469496" providerId="ADAL" clId="{8DA065B2-5538-5ECB-9B51-24092B338497}" dt="2026-04-26T14:53:34.346" v="84" actId="478"/>
          <ac:spMkLst>
            <pc:docMk/>
            <pc:sldMk cId="0" sldId="262"/>
            <ac:spMk id="23" creationId="{00000000-0000-0000-0000-000000000000}"/>
          </ac:spMkLst>
        </pc:spChg>
        <pc:spChg chg="add mod">
          <ac:chgData name="NOKUVIMBA CHIYAKA - STUDENT" userId="d1558cf6-0db9-40d2-8f30-9a2269469496" providerId="ADAL" clId="{8DA065B2-5538-5ECB-9B51-24092B338497}" dt="2026-04-26T14:45:46.181" v="66"/>
          <ac:spMkLst>
            <pc:docMk/>
            <pc:sldMk cId="0" sldId="262"/>
            <ac:spMk id="26" creationId="{D5FAA340-4F74-AA7F-D3E9-88CC04C27796}"/>
          </ac:spMkLst>
        </pc:spChg>
        <pc:spChg chg="add mod">
          <ac:chgData name="NOKUVIMBA CHIYAKA - STUDENT" userId="d1558cf6-0db9-40d2-8f30-9a2269469496" providerId="ADAL" clId="{8DA065B2-5538-5ECB-9B51-24092B338497}" dt="2026-04-26T14:45:46.181" v="66"/>
          <ac:spMkLst>
            <pc:docMk/>
            <pc:sldMk cId="0" sldId="262"/>
            <ac:spMk id="30" creationId="{3EBB0A62-F9BC-E1B9-EEF4-D99E7D6B116D}"/>
          </ac:spMkLst>
        </pc:spChg>
        <pc:spChg chg="add mod">
          <ac:chgData name="NOKUVIMBA CHIYAKA - STUDENT" userId="d1558cf6-0db9-40d2-8f30-9a2269469496" providerId="ADAL" clId="{8DA065B2-5538-5ECB-9B51-24092B338497}" dt="2026-04-26T14:45:46.181" v="66"/>
          <ac:spMkLst>
            <pc:docMk/>
            <pc:sldMk cId="0" sldId="262"/>
            <ac:spMk id="33" creationId="{639CDAFF-F5D3-35C4-AB55-D45E2CE5B472}"/>
          </ac:spMkLst>
        </pc:spChg>
        <pc:spChg chg="add mod">
          <ac:chgData name="NOKUVIMBA CHIYAKA - STUDENT" userId="d1558cf6-0db9-40d2-8f30-9a2269469496" providerId="ADAL" clId="{8DA065B2-5538-5ECB-9B51-24092B338497}" dt="2026-04-26T14:45:46.181" v="66"/>
          <ac:spMkLst>
            <pc:docMk/>
            <pc:sldMk cId="0" sldId="262"/>
            <ac:spMk id="35" creationId="{5E393287-87DE-203D-2BD7-955E10A6FBB8}"/>
          </ac:spMkLst>
        </pc:spChg>
        <pc:spChg chg="add mod">
          <ac:chgData name="NOKUVIMBA CHIYAKA - STUDENT" userId="d1558cf6-0db9-40d2-8f30-9a2269469496" providerId="ADAL" clId="{8DA065B2-5538-5ECB-9B51-24092B338497}" dt="2026-04-26T14:45:46.181" v="66"/>
          <ac:spMkLst>
            <pc:docMk/>
            <pc:sldMk cId="0" sldId="262"/>
            <ac:spMk id="36" creationId="{6631E04F-8C21-CC7B-4FD1-9F714F938DF5}"/>
          </ac:spMkLst>
        </pc:spChg>
        <pc:spChg chg="add mod">
          <ac:chgData name="NOKUVIMBA CHIYAKA - STUDENT" userId="d1558cf6-0db9-40d2-8f30-9a2269469496" providerId="ADAL" clId="{8DA065B2-5538-5ECB-9B51-24092B338497}" dt="2026-04-26T14:45:46.181" v="66"/>
          <ac:spMkLst>
            <pc:docMk/>
            <pc:sldMk cId="0" sldId="262"/>
            <ac:spMk id="39" creationId="{75F22C53-0D70-70DC-9BBB-5502684E07DD}"/>
          </ac:spMkLst>
        </pc:spChg>
        <pc:spChg chg="add mod">
          <ac:chgData name="NOKUVIMBA CHIYAKA - STUDENT" userId="d1558cf6-0db9-40d2-8f30-9a2269469496" providerId="ADAL" clId="{8DA065B2-5538-5ECB-9B51-24092B338497}" dt="2026-04-26T14:45:46.181" v="66"/>
          <ac:spMkLst>
            <pc:docMk/>
            <pc:sldMk cId="0" sldId="262"/>
            <ac:spMk id="40" creationId="{01D2BCF3-50D5-C77F-0ED5-54EAF4EA3AE0}"/>
          </ac:spMkLst>
        </pc:spChg>
        <pc:spChg chg="add mod">
          <ac:chgData name="NOKUVIMBA CHIYAKA - STUDENT" userId="d1558cf6-0db9-40d2-8f30-9a2269469496" providerId="ADAL" clId="{8DA065B2-5538-5ECB-9B51-24092B338497}" dt="2026-04-26T14:45:46.181" v="66"/>
          <ac:spMkLst>
            <pc:docMk/>
            <pc:sldMk cId="0" sldId="262"/>
            <ac:spMk id="43" creationId="{8B119994-5FA1-1478-11B7-7276651FEDA8}"/>
          </ac:spMkLst>
        </pc:spChg>
        <pc:spChg chg="add mod">
          <ac:chgData name="NOKUVIMBA CHIYAKA - STUDENT" userId="d1558cf6-0db9-40d2-8f30-9a2269469496" providerId="ADAL" clId="{8DA065B2-5538-5ECB-9B51-24092B338497}" dt="2026-04-26T14:45:46.181" v="66"/>
          <ac:spMkLst>
            <pc:docMk/>
            <pc:sldMk cId="0" sldId="262"/>
            <ac:spMk id="44" creationId="{8AC4C743-05A3-2EF1-96D3-D922E8321109}"/>
          </ac:spMkLst>
        </pc:spChg>
        <pc:spChg chg="add mod">
          <ac:chgData name="NOKUVIMBA CHIYAKA - STUDENT" userId="d1558cf6-0db9-40d2-8f30-9a2269469496" providerId="ADAL" clId="{8DA065B2-5538-5ECB-9B51-24092B338497}" dt="2026-04-26T14:45:46.181" v="66"/>
          <ac:spMkLst>
            <pc:docMk/>
            <pc:sldMk cId="0" sldId="262"/>
            <ac:spMk id="46" creationId="{9C1DE3B0-197D-C8D8-44AA-9C09C96509CC}"/>
          </ac:spMkLst>
        </pc:spChg>
        <pc:spChg chg="add mod">
          <ac:chgData name="NOKUVIMBA CHIYAKA - STUDENT" userId="d1558cf6-0db9-40d2-8f30-9a2269469496" providerId="ADAL" clId="{8DA065B2-5538-5ECB-9B51-24092B338497}" dt="2026-04-26T14:45:54.119" v="68"/>
          <ac:spMkLst>
            <pc:docMk/>
            <pc:sldMk cId="0" sldId="262"/>
            <ac:spMk id="48" creationId="{201951F6-8B90-BD3D-227D-2A129BD9FDD6}"/>
          </ac:spMkLst>
        </pc:spChg>
        <pc:spChg chg="add mod">
          <ac:chgData name="NOKUVIMBA CHIYAKA - STUDENT" userId="d1558cf6-0db9-40d2-8f30-9a2269469496" providerId="ADAL" clId="{8DA065B2-5538-5ECB-9B51-24092B338497}" dt="2026-04-26T14:45:54.119" v="68"/>
          <ac:spMkLst>
            <pc:docMk/>
            <pc:sldMk cId="0" sldId="262"/>
            <ac:spMk id="51" creationId="{9548DF59-0535-B711-1A6F-35E9209C71E5}"/>
          </ac:spMkLst>
        </pc:spChg>
        <pc:spChg chg="add mod">
          <ac:chgData name="NOKUVIMBA CHIYAKA - STUDENT" userId="d1558cf6-0db9-40d2-8f30-9a2269469496" providerId="ADAL" clId="{8DA065B2-5538-5ECB-9B51-24092B338497}" dt="2026-04-26T14:45:54.119" v="68"/>
          <ac:spMkLst>
            <pc:docMk/>
            <pc:sldMk cId="0" sldId="262"/>
            <ac:spMk id="52" creationId="{3C40378F-6B61-7AD0-598E-4C5B97B260CE}"/>
          </ac:spMkLst>
        </pc:spChg>
        <pc:spChg chg="add mod">
          <ac:chgData name="NOKUVIMBA CHIYAKA - STUDENT" userId="d1558cf6-0db9-40d2-8f30-9a2269469496" providerId="ADAL" clId="{8DA065B2-5538-5ECB-9B51-24092B338497}" dt="2026-04-26T14:45:54.119" v="68"/>
          <ac:spMkLst>
            <pc:docMk/>
            <pc:sldMk cId="0" sldId="262"/>
            <ac:spMk id="53" creationId="{AD0161C9-D1D9-7EFA-AF09-DC304694820F}"/>
          </ac:spMkLst>
        </pc:spChg>
        <pc:spChg chg="add mod">
          <ac:chgData name="NOKUVIMBA CHIYAKA - STUDENT" userId="d1558cf6-0db9-40d2-8f30-9a2269469496" providerId="ADAL" clId="{8DA065B2-5538-5ECB-9B51-24092B338497}" dt="2026-04-26T14:45:54.119" v="68"/>
          <ac:spMkLst>
            <pc:docMk/>
            <pc:sldMk cId="0" sldId="262"/>
            <ac:spMk id="55" creationId="{1DF8EBF2-7FA1-F281-E534-84E0FAF53E33}"/>
          </ac:spMkLst>
        </pc:spChg>
        <pc:spChg chg="add mod">
          <ac:chgData name="NOKUVIMBA CHIYAKA - STUDENT" userId="d1558cf6-0db9-40d2-8f30-9a2269469496" providerId="ADAL" clId="{8DA065B2-5538-5ECB-9B51-24092B338497}" dt="2026-04-26T14:45:54.119" v="68"/>
          <ac:spMkLst>
            <pc:docMk/>
            <pc:sldMk cId="0" sldId="262"/>
            <ac:spMk id="57" creationId="{A8AB7B13-2E24-822F-71D4-7B8F6C254632}"/>
          </ac:spMkLst>
        </pc:spChg>
        <pc:spChg chg="add mod">
          <ac:chgData name="NOKUVIMBA CHIYAKA - STUDENT" userId="d1558cf6-0db9-40d2-8f30-9a2269469496" providerId="ADAL" clId="{8DA065B2-5538-5ECB-9B51-24092B338497}" dt="2026-04-26T14:45:54.119" v="68"/>
          <ac:spMkLst>
            <pc:docMk/>
            <pc:sldMk cId="0" sldId="262"/>
            <ac:spMk id="59" creationId="{8F612116-7384-CE8F-0AC0-D5F9155700FB}"/>
          </ac:spMkLst>
        </pc:spChg>
        <pc:spChg chg="add mod">
          <ac:chgData name="NOKUVIMBA CHIYAKA - STUDENT" userId="d1558cf6-0db9-40d2-8f30-9a2269469496" providerId="ADAL" clId="{8DA065B2-5538-5ECB-9B51-24092B338497}" dt="2026-04-26T14:45:54.119" v="68"/>
          <ac:spMkLst>
            <pc:docMk/>
            <pc:sldMk cId="0" sldId="262"/>
            <ac:spMk id="60" creationId="{825EB46B-8F71-A826-C125-936B3BFF8B03}"/>
          </ac:spMkLst>
        </pc:spChg>
        <pc:spChg chg="add mod">
          <ac:chgData name="NOKUVIMBA CHIYAKA - STUDENT" userId="d1558cf6-0db9-40d2-8f30-9a2269469496" providerId="ADAL" clId="{8DA065B2-5538-5ECB-9B51-24092B338497}" dt="2026-04-26T14:45:54.119" v="68"/>
          <ac:spMkLst>
            <pc:docMk/>
            <pc:sldMk cId="0" sldId="262"/>
            <ac:spMk id="61" creationId="{09060290-0ACA-D6AE-0B07-7C72B3C29E0D}"/>
          </ac:spMkLst>
        </pc:spChg>
        <pc:spChg chg="add mod">
          <ac:chgData name="NOKUVIMBA CHIYAKA - STUDENT" userId="d1558cf6-0db9-40d2-8f30-9a2269469496" providerId="ADAL" clId="{8DA065B2-5538-5ECB-9B51-24092B338497}" dt="2026-04-26T14:45:54.119" v="68"/>
          <ac:spMkLst>
            <pc:docMk/>
            <pc:sldMk cId="0" sldId="262"/>
            <ac:spMk id="68" creationId="{1146E192-AE00-5A63-8163-8D4FDE62FE77}"/>
          </ac:spMkLst>
        </pc:spChg>
      </pc:sldChg>
      <pc:sldChg chg="modSp del mod ord">
        <pc:chgData name="NOKUVIMBA CHIYAKA - STUDENT" userId="d1558cf6-0db9-40d2-8f30-9a2269469496" providerId="ADAL" clId="{8DA065B2-5538-5ECB-9B51-24092B338497}" dt="2026-04-26T14:51:48.428" v="71" actId="2696"/>
        <pc:sldMkLst>
          <pc:docMk/>
          <pc:sldMk cId="0" sldId="263"/>
        </pc:sldMkLst>
        <pc:spChg chg="mod">
          <ac:chgData name="NOKUVIMBA CHIYAKA - STUDENT" userId="d1558cf6-0db9-40d2-8f30-9a2269469496" providerId="ADAL" clId="{8DA065B2-5538-5ECB-9B51-24092B338497}" dt="2026-04-26T13:47:05.570" v="0" actId="20577"/>
          <ac:spMkLst>
            <pc:docMk/>
            <pc:sldMk cId="0" sldId="263"/>
            <ac:spMk id="3" creationId="{00000000-0000-0000-0000-000000000000}"/>
          </ac:spMkLst>
        </pc:spChg>
      </pc:sldChg>
      <pc:sldChg chg="modSp add mod setBg">
        <pc:chgData name="NOKUVIMBA CHIYAKA - STUDENT" userId="d1558cf6-0db9-40d2-8f30-9a2269469496" providerId="ADAL" clId="{8DA065B2-5538-5ECB-9B51-24092B338497}" dt="2026-04-26T14:39:45.894" v="46" actId="1076"/>
        <pc:sldMkLst>
          <pc:docMk/>
          <pc:sldMk cId="0" sldId="264"/>
        </pc:sldMkLst>
        <pc:spChg chg="mod">
          <ac:chgData name="NOKUVIMBA CHIYAKA - STUDENT" userId="d1558cf6-0db9-40d2-8f30-9a2269469496" providerId="ADAL" clId="{8DA065B2-5538-5ECB-9B51-24092B338497}" dt="2026-04-26T14:39:45.894" v="46" actId="1076"/>
          <ac:spMkLst>
            <pc:docMk/>
            <pc:sldMk cId="0" sldId="264"/>
            <ac:spMk id="2" creationId="{00000000-0000-0000-0000-000000000000}"/>
          </ac:spMkLst>
        </pc:spChg>
      </pc:sldChg>
      <pc:sldChg chg="addSp delSp modSp add del mod ord setBg">
        <pc:chgData name="NOKUVIMBA CHIYAKA - STUDENT" userId="d1558cf6-0db9-40d2-8f30-9a2269469496" providerId="ADAL" clId="{8DA065B2-5538-5ECB-9B51-24092B338497}" dt="2026-04-27T21:34:05.661" v="249" actId="478"/>
        <pc:sldMkLst>
          <pc:docMk/>
          <pc:sldMk cId="0" sldId="265"/>
        </pc:sldMkLst>
        <pc:spChg chg="del mod">
          <ac:chgData name="NOKUVIMBA CHIYAKA - STUDENT" userId="d1558cf6-0db9-40d2-8f30-9a2269469496" providerId="ADAL" clId="{8DA065B2-5538-5ECB-9B51-24092B338497}" dt="2026-04-27T21:34:05.661" v="249" actId="478"/>
          <ac:spMkLst>
            <pc:docMk/>
            <pc:sldMk cId="0" sldId="265"/>
            <ac:spMk id="3" creationId="{00000000-0000-0000-0000-000000000000}"/>
          </ac:spMkLst>
        </pc:spChg>
        <pc:spChg chg="mod">
          <ac:chgData name="NOKUVIMBA CHIYAKA - STUDENT" userId="d1558cf6-0db9-40d2-8f30-9a2269469496" providerId="ADAL" clId="{8DA065B2-5538-5ECB-9B51-24092B338497}" dt="2026-04-26T14:56:55.186" v="171"/>
          <ac:spMkLst>
            <pc:docMk/>
            <pc:sldMk cId="0" sldId="265"/>
            <ac:spMk id="26" creationId="{00000000-0000-0000-0000-000000000000}"/>
          </ac:spMkLst>
        </pc:spChg>
        <pc:spChg chg="add del mod">
          <ac:chgData name="NOKUVIMBA CHIYAKA - STUDENT" userId="d1558cf6-0db9-40d2-8f30-9a2269469496" providerId="ADAL" clId="{8DA065B2-5538-5ECB-9B51-24092B338497}" dt="2026-04-26T14:45:02.134" v="64" actId="767"/>
          <ac:spMkLst>
            <pc:docMk/>
            <pc:sldMk cId="0" sldId="265"/>
            <ac:spMk id="26" creationId="{A6ED5600-DAFA-E325-171D-9E28F340A578}"/>
          </ac:spMkLst>
        </pc:spChg>
      </pc:sldChg>
      <pc:sldChg chg="addSp delSp modSp add mod setBg">
        <pc:chgData name="NOKUVIMBA CHIYAKA - STUDENT" userId="d1558cf6-0db9-40d2-8f30-9a2269469496" providerId="ADAL" clId="{8DA065B2-5538-5ECB-9B51-24092B338497}" dt="2026-04-27T19:43:42.330" v="237"/>
        <pc:sldMkLst>
          <pc:docMk/>
          <pc:sldMk cId="3352734118" sldId="266"/>
        </pc:sldMkLst>
        <pc:spChg chg="mod">
          <ac:chgData name="NOKUVIMBA CHIYAKA - STUDENT" userId="d1558cf6-0db9-40d2-8f30-9a2269469496" providerId="ADAL" clId="{8DA065B2-5538-5ECB-9B51-24092B338497}" dt="2026-04-26T14:54:52.418" v="145" actId="26606"/>
          <ac:spMkLst>
            <pc:docMk/>
            <pc:sldMk cId="3352734118" sldId="266"/>
            <ac:spMk id="2" creationId="{B91A83FE-931A-F199-BFA6-0DC828500DB2}"/>
          </ac:spMkLst>
        </pc:spChg>
        <pc:spChg chg="del mod">
          <ac:chgData name="NOKUVIMBA CHIYAKA - STUDENT" userId="d1558cf6-0db9-40d2-8f30-9a2269469496" providerId="ADAL" clId="{8DA065B2-5538-5ECB-9B51-24092B338497}" dt="2026-04-26T14:53:21.352" v="80" actId="478"/>
          <ac:spMkLst>
            <pc:docMk/>
            <pc:sldMk cId="3352734118" sldId="266"/>
            <ac:spMk id="3" creationId="{B2A29F2B-37C9-0AF0-0CBB-1C37159BBE57}"/>
          </ac:spMkLst>
        </pc:spChg>
        <pc:spChg chg="del">
          <ac:chgData name="NOKUVIMBA CHIYAKA - STUDENT" userId="d1558cf6-0db9-40d2-8f30-9a2269469496" providerId="ADAL" clId="{8DA065B2-5538-5ECB-9B51-24092B338497}" dt="2026-04-26T14:53:25.139" v="82" actId="478"/>
          <ac:spMkLst>
            <pc:docMk/>
            <pc:sldMk cId="3352734118" sldId="266"/>
            <ac:spMk id="5" creationId="{4573F0B3-AAFA-2D82-B2C3-EF2DE19B1447}"/>
          </ac:spMkLst>
        </pc:spChg>
        <pc:spChg chg="del">
          <ac:chgData name="NOKUVIMBA CHIYAKA - STUDENT" userId="d1558cf6-0db9-40d2-8f30-9a2269469496" providerId="ADAL" clId="{8DA065B2-5538-5ECB-9B51-24092B338497}" dt="2026-04-26T14:53:23.334" v="81" actId="478"/>
          <ac:spMkLst>
            <pc:docMk/>
            <pc:sldMk cId="3352734118" sldId="266"/>
            <ac:spMk id="6" creationId="{34846D15-E975-0F49-344F-9A327218E576}"/>
          </ac:spMkLst>
        </pc:spChg>
        <pc:spChg chg="add del">
          <ac:chgData name="NOKUVIMBA CHIYAKA - STUDENT" userId="d1558cf6-0db9-40d2-8f30-9a2269469496" providerId="ADAL" clId="{8DA065B2-5538-5ECB-9B51-24092B338497}" dt="2026-04-26T14:54:52.418" v="145" actId="26606"/>
          <ac:spMkLst>
            <pc:docMk/>
            <pc:sldMk cId="3352734118" sldId="266"/>
            <ac:spMk id="7" creationId="{787F4F1C-8D3D-4EC1-B72D-A0470A5A08B8}"/>
          </ac:spMkLst>
        </pc:spChg>
        <pc:grpChg chg="add del">
          <ac:chgData name="NOKUVIMBA CHIYAKA - STUDENT" userId="d1558cf6-0db9-40d2-8f30-9a2269469496" providerId="ADAL" clId="{8DA065B2-5538-5ECB-9B51-24092B338497}" dt="2026-04-26T14:54:52.418" v="145" actId="26606"/>
          <ac:grpSpMkLst>
            <pc:docMk/>
            <pc:sldMk cId="3352734118" sldId="266"/>
            <ac:grpSpMk id="9" creationId="{D1E3DD61-64DB-46AD-B249-E273CD86B051}"/>
          </ac:grpSpMkLst>
        </pc:grpChg>
        <pc:picChg chg="del">
          <ac:chgData name="NOKUVIMBA CHIYAKA - STUDENT" userId="d1558cf6-0db9-40d2-8f30-9a2269469496" providerId="ADAL" clId="{8DA065B2-5538-5ECB-9B51-24092B338497}" dt="2026-04-26T14:53:17.962" v="78" actId="478"/>
          <ac:picMkLst>
            <pc:docMk/>
            <pc:sldMk cId="3352734118" sldId="266"/>
            <ac:picMk id="4" creationId="{3168BF75-5B83-75C0-3A49-C2C300CD0046}"/>
          </ac:picMkLst>
        </pc:picChg>
      </pc:sldChg>
      <pc:sldChg chg="addSp delSp modSp add mod ord setBg">
        <pc:chgData name="NOKUVIMBA CHIYAKA - STUDENT" userId="d1558cf6-0db9-40d2-8f30-9a2269469496" providerId="ADAL" clId="{8DA065B2-5538-5ECB-9B51-24092B338497}" dt="2026-04-27T19:44:01.625" v="238"/>
        <pc:sldMkLst>
          <pc:docMk/>
          <pc:sldMk cId="0" sldId="267"/>
        </pc:sldMkLst>
        <pc:spChg chg="mod">
          <ac:chgData name="NOKUVIMBA CHIYAKA - STUDENT" userId="d1558cf6-0db9-40d2-8f30-9a2269469496" providerId="ADAL" clId="{8DA065B2-5538-5ECB-9B51-24092B338497}" dt="2026-04-27T19:41:47.612" v="228" actId="20577"/>
          <ac:spMkLst>
            <pc:docMk/>
            <pc:sldMk cId="0" sldId="267"/>
            <ac:spMk id="12" creationId="{00000000-0000-0000-0000-000000000000}"/>
          </ac:spMkLst>
        </pc:spChg>
        <pc:spChg chg="add del mod">
          <ac:chgData name="NOKUVIMBA CHIYAKA - STUDENT" userId="d1558cf6-0db9-40d2-8f30-9a2269469496" providerId="ADAL" clId="{8DA065B2-5538-5ECB-9B51-24092B338497}" dt="2026-04-27T19:40:47.762" v="211"/>
          <ac:spMkLst>
            <pc:docMk/>
            <pc:sldMk cId="0" sldId="267"/>
            <ac:spMk id="13" creationId="{E6C8F8FB-A194-CB7E-6E80-DF7A43C464AE}"/>
          </ac:spMkLst>
        </pc:spChg>
        <pc:spChg chg="add del mod">
          <ac:chgData name="NOKUVIMBA CHIYAKA - STUDENT" userId="d1558cf6-0db9-40d2-8f30-9a2269469496" providerId="ADAL" clId="{8DA065B2-5538-5ECB-9B51-24092B338497}" dt="2026-04-27T19:42:15.514" v="231"/>
          <ac:spMkLst>
            <pc:docMk/>
            <pc:sldMk cId="0" sldId="267"/>
            <ac:spMk id="14" creationId="{B89D5BAF-07E2-A63F-6D0B-B6F20CDE12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26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6DE8-889F-4DD3-FF07-2BD0B0E94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E6D35-18D6-018E-0D68-AE5485ADD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089A4-8882-D5EC-75D7-27D7346117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316B2B-55B3-8695-6D8C-4B2DEFB757A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03060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032"/>
        </a:solidFill>
        <a:effectLst/>
      </p:bgPr>
    </p:bg>
    <p:spTree>
      <p:nvGrpSpPr>
        <p:cNvPr id="1" name=""/>
        <p:cNvGrpSpPr/>
        <p:nvPr/>
      </p:nvGrpSpPr>
      <p:grpSpPr>
        <a:xfrm>
          <a:off x="0" y="0"/>
          <a:ext cx="0" cy="0"/>
          <a:chOff x="0" y="0"/>
          <a:chExt cx="0" cy="0"/>
        </a:xfrm>
      </p:grpSpPr>
      <p:sp>
        <p:nvSpPr>
          <p:cNvPr id="2" name="Shape 0"/>
          <p:cNvSpPr/>
          <p:nvPr/>
        </p:nvSpPr>
        <p:spPr>
          <a:xfrm>
            <a:off x="1191" y="0"/>
            <a:ext cx="9141714" cy="54864"/>
          </a:xfrm>
          <a:prstGeom prst="rect">
            <a:avLst/>
          </a:prstGeom>
          <a:solidFill>
            <a:srgbClr val="C8E1C8"/>
          </a:solidFill>
          <a:ln w="12700">
            <a:solidFill>
              <a:srgbClr val="C8E1C8"/>
            </a:solidFill>
            <a:prstDash val="solid"/>
          </a:ln>
        </p:spPr>
        <p:txBody>
          <a:bodyPr/>
          <a:lstStyle/>
          <a:p>
            <a:endParaRPr lang="en-US" sz="1350"/>
          </a:p>
        </p:txBody>
      </p:sp>
      <p:sp>
        <p:nvSpPr>
          <p:cNvPr id="3" name="Shape 1"/>
          <p:cNvSpPr/>
          <p:nvPr/>
        </p:nvSpPr>
        <p:spPr>
          <a:xfrm>
            <a:off x="1191" y="5088636"/>
            <a:ext cx="9141714" cy="54864"/>
          </a:xfrm>
          <a:prstGeom prst="rect">
            <a:avLst/>
          </a:prstGeom>
          <a:solidFill>
            <a:srgbClr val="1482A5"/>
          </a:solidFill>
          <a:ln w="12700">
            <a:solidFill>
              <a:srgbClr val="1482A5"/>
            </a:solidFill>
            <a:prstDash val="solid"/>
          </a:ln>
        </p:spPr>
        <p:txBody>
          <a:bodyPr/>
          <a:lstStyle/>
          <a:p>
            <a:endParaRPr lang="en-US" sz="1350"/>
          </a:p>
        </p:txBody>
      </p:sp>
      <p:sp>
        <p:nvSpPr>
          <p:cNvPr id="4" name="Shape 2"/>
          <p:cNvSpPr/>
          <p:nvPr/>
        </p:nvSpPr>
        <p:spPr>
          <a:xfrm>
            <a:off x="378381" y="960120"/>
            <a:ext cx="54864" cy="3223260"/>
          </a:xfrm>
          <a:prstGeom prst="rect">
            <a:avLst/>
          </a:prstGeom>
          <a:solidFill>
            <a:srgbClr val="C8E1C8"/>
          </a:solidFill>
          <a:ln w="12700">
            <a:solidFill>
              <a:srgbClr val="C8E1C8"/>
            </a:solidFill>
            <a:prstDash val="solid"/>
          </a:ln>
        </p:spPr>
        <p:txBody>
          <a:bodyPr/>
          <a:lstStyle/>
          <a:p>
            <a:endParaRPr lang="en-US" sz="1350"/>
          </a:p>
        </p:txBody>
      </p:sp>
      <p:sp>
        <p:nvSpPr>
          <p:cNvPr id="5" name="Text 3"/>
          <p:cNvSpPr/>
          <p:nvPr/>
        </p:nvSpPr>
        <p:spPr>
          <a:xfrm>
            <a:off x="584121" y="960120"/>
            <a:ext cx="7955280" cy="960120"/>
          </a:xfrm>
          <a:prstGeom prst="rect">
            <a:avLst/>
          </a:prstGeom>
          <a:noFill/>
          <a:ln/>
        </p:spPr>
        <p:txBody>
          <a:bodyPr wrap="square" lIns="0" tIns="0" rIns="0" bIns="0" rtlCol="0" anchor="ctr"/>
          <a:lstStyle/>
          <a:p>
            <a:r>
              <a:rPr lang="en-US" sz="5400" b="1" kern="0" spc="900" dirty="0">
                <a:solidFill>
                  <a:srgbClr val="FFFFFF"/>
                </a:solidFill>
                <a:latin typeface="Libre Baskerville" pitchFamily="34" charset="0"/>
                <a:ea typeface="Libre Baskerville" pitchFamily="34" charset="-122"/>
                <a:cs typeface="Libre Baskerville" pitchFamily="34" charset="-120"/>
              </a:rPr>
              <a:t>MSSIA</a:t>
            </a:r>
            <a:endParaRPr lang="en-US" sz="5400" dirty="0"/>
          </a:p>
        </p:txBody>
      </p:sp>
      <p:sp>
        <p:nvSpPr>
          <p:cNvPr id="6" name="Text 4"/>
          <p:cNvSpPr/>
          <p:nvPr/>
        </p:nvSpPr>
        <p:spPr>
          <a:xfrm>
            <a:off x="584121" y="1885950"/>
            <a:ext cx="7955280" cy="445770"/>
          </a:xfrm>
          <a:prstGeom prst="rect">
            <a:avLst/>
          </a:prstGeom>
          <a:noFill/>
          <a:ln/>
        </p:spPr>
        <p:txBody>
          <a:bodyPr wrap="square" lIns="0" tIns="0" rIns="0" bIns="0" rtlCol="0" anchor="ctr"/>
          <a:lstStyle/>
          <a:p>
            <a:r>
              <a:rPr lang="en-US" i="1" dirty="0">
                <a:solidFill>
                  <a:srgbClr val="DBEAFE"/>
                </a:solidFill>
                <a:latin typeface="Libre Baskerville" pitchFamily="34" charset="0"/>
                <a:ea typeface="Libre Baskerville" pitchFamily="34" charset="-122"/>
                <a:cs typeface="Libre Baskerville" pitchFamily="34" charset="-120"/>
              </a:rPr>
              <a:t>Multi-Sensor Spatial Intelligence and Analytics Platform</a:t>
            </a:r>
            <a:endParaRPr lang="en-US" dirty="0"/>
          </a:p>
        </p:txBody>
      </p:sp>
      <p:sp>
        <p:nvSpPr>
          <p:cNvPr id="7" name="Text 5"/>
          <p:cNvSpPr/>
          <p:nvPr/>
        </p:nvSpPr>
        <p:spPr>
          <a:xfrm>
            <a:off x="584121" y="2297430"/>
            <a:ext cx="7955280" cy="308610"/>
          </a:xfrm>
          <a:prstGeom prst="rect">
            <a:avLst/>
          </a:prstGeom>
          <a:noFill/>
          <a:ln/>
        </p:spPr>
        <p:txBody>
          <a:bodyPr wrap="square" lIns="0" tIns="0" rIns="0" bIns="0" rtlCol="0" anchor="ctr"/>
          <a:lstStyle/>
          <a:p>
            <a:r>
              <a:rPr lang="en-US" sz="1200" i="1" dirty="0">
                <a:solidFill>
                  <a:srgbClr val="A8C9A8"/>
                </a:solidFill>
                <a:latin typeface="Montserrat" pitchFamily="34" charset="0"/>
                <a:ea typeface="Montserrat" pitchFamily="34" charset="-122"/>
                <a:cs typeface="Montserrat" pitchFamily="34" charset="-120"/>
              </a:rPr>
              <a:t>"Every building has invisible data — MSSIA makes it visible."</a:t>
            </a:r>
            <a:endParaRPr lang="en-US" sz="1200" dirty="0"/>
          </a:p>
        </p:txBody>
      </p:sp>
      <p:sp>
        <p:nvSpPr>
          <p:cNvPr id="8" name="Shape 6"/>
          <p:cNvSpPr/>
          <p:nvPr/>
        </p:nvSpPr>
        <p:spPr>
          <a:xfrm>
            <a:off x="584121" y="2708910"/>
            <a:ext cx="7955280" cy="0"/>
          </a:xfrm>
          <a:prstGeom prst="line">
            <a:avLst/>
          </a:prstGeom>
          <a:noFill/>
          <a:ln w="12700">
            <a:solidFill>
              <a:srgbClr val="1482A5"/>
            </a:solidFill>
            <a:prstDash val="solid"/>
          </a:ln>
        </p:spPr>
        <p:txBody>
          <a:bodyPr/>
          <a:lstStyle/>
          <a:p>
            <a:endParaRPr lang="en-US" sz="1350"/>
          </a:p>
        </p:txBody>
      </p:sp>
      <p:sp>
        <p:nvSpPr>
          <p:cNvPr id="9" name="Text 7"/>
          <p:cNvSpPr/>
          <p:nvPr/>
        </p:nvSpPr>
        <p:spPr>
          <a:xfrm>
            <a:off x="584121" y="2846070"/>
            <a:ext cx="7955280" cy="288036"/>
          </a:xfrm>
          <a:prstGeom prst="rect">
            <a:avLst/>
          </a:prstGeom>
          <a:noFill/>
          <a:ln/>
        </p:spPr>
        <p:txBody>
          <a:bodyPr wrap="square" lIns="0" tIns="0" rIns="0" bIns="0" rtlCol="0" anchor="ctr"/>
          <a:lstStyle/>
          <a:p>
            <a:r>
              <a:rPr lang="en-US" sz="1500" b="1" dirty="0">
                <a:solidFill>
                  <a:srgbClr val="FFFFFF"/>
                </a:solidFill>
                <a:latin typeface="Montserrat" pitchFamily="34" charset="0"/>
                <a:ea typeface="Montserrat" pitchFamily="34" charset="-122"/>
                <a:cs typeface="Montserrat" pitchFamily="34" charset="-120"/>
              </a:rPr>
              <a:t>Nokuvimba Natalie Chiyaka</a:t>
            </a:r>
            <a:endParaRPr lang="en-US" sz="1500" dirty="0"/>
          </a:p>
        </p:txBody>
      </p:sp>
      <p:sp>
        <p:nvSpPr>
          <p:cNvPr id="10" name="Text 8"/>
          <p:cNvSpPr/>
          <p:nvPr/>
        </p:nvSpPr>
        <p:spPr>
          <a:xfrm>
            <a:off x="584121" y="3120390"/>
            <a:ext cx="7955280" cy="260604"/>
          </a:xfrm>
          <a:prstGeom prst="rect">
            <a:avLst/>
          </a:prstGeom>
          <a:noFill/>
          <a:ln/>
        </p:spPr>
        <p:txBody>
          <a:bodyPr wrap="square" lIns="0" tIns="0" rIns="0" bIns="0" rtlCol="0" anchor="ctr"/>
          <a:lstStyle/>
          <a:p>
            <a:r>
              <a:rPr lang="en-US" sz="1200" dirty="0">
                <a:solidFill>
                  <a:srgbClr val="A8C9A8"/>
                </a:solidFill>
                <a:latin typeface="Montserrat" pitchFamily="34" charset="0"/>
                <a:ea typeface="Montserrat" pitchFamily="34" charset="-122"/>
                <a:cs typeface="Montserrat" pitchFamily="34" charset="-120"/>
              </a:rPr>
              <a:t>Bachelor of Engineering (Honours) in Software and Electronic Engineering</a:t>
            </a:r>
            <a:endParaRPr lang="en-US" sz="1200" dirty="0"/>
          </a:p>
        </p:txBody>
      </p:sp>
      <p:sp>
        <p:nvSpPr>
          <p:cNvPr id="11" name="Text 9"/>
          <p:cNvSpPr/>
          <p:nvPr/>
        </p:nvSpPr>
        <p:spPr>
          <a:xfrm>
            <a:off x="584121" y="3360420"/>
            <a:ext cx="7955280" cy="260604"/>
          </a:xfrm>
          <a:prstGeom prst="rect">
            <a:avLst/>
          </a:prstGeom>
          <a:noFill/>
          <a:ln/>
        </p:spPr>
        <p:txBody>
          <a:bodyPr wrap="square" lIns="0" tIns="0" rIns="0" bIns="0" rtlCol="0" anchor="ctr"/>
          <a:lstStyle/>
          <a:p>
            <a:r>
              <a:rPr lang="en-US" sz="1200" i="1" dirty="0">
                <a:solidFill>
                  <a:srgbClr val="A8C9A8"/>
                </a:solidFill>
                <a:latin typeface="Montserrat" pitchFamily="34" charset="0"/>
                <a:ea typeface="Montserrat" pitchFamily="34" charset="-122"/>
                <a:cs typeface="Montserrat" pitchFamily="34" charset="-120"/>
              </a:rPr>
              <a:t>Atlantic Technological University  ·  2025/2026</a:t>
            </a:r>
            <a:endParaRPr lang="en-US" sz="1200" dirty="0"/>
          </a:p>
        </p:txBody>
      </p:sp>
      <p:sp>
        <p:nvSpPr>
          <p:cNvPr id="12" name="Text 10"/>
          <p:cNvSpPr/>
          <p:nvPr/>
        </p:nvSpPr>
        <p:spPr>
          <a:xfrm>
            <a:off x="584121" y="4732020"/>
            <a:ext cx="7955280" cy="240030"/>
          </a:xfrm>
          <a:prstGeom prst="rect">
            <a:avLst/>
          </a:prstGeom>
          <a:noFill/>
          <a:ln/>
        </p:spPr>
        <p:txBody>
          <a:bodyPr wrap="square" lIns="0" tIns="0" rIns="0" bIns="0" rtlCol="0" anchor="ctr"/>
          <a:lstStyle/>
          <a:p>
            <a:pPr algn="r"/>
            <a:r>
              <a:rPr lang="en-US" sz="975" dirty="0">
                <a:solidFill>
                  <a:srgbClr val="1482A5"/>
                </a:solidFill>
                <a:latin typeface="Montserrat" pitchFamily="34" charset="0"/>
                <a:ea typeface="Montserrat" pitchFamily="34" charset="-122"/>
                <a:cs typeface="Montserrat" pitchFamily="34" charset="-120"/>
              </a:rPr>
              <a:t>Project Engineering  ·  Year 4</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F1032"/>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EA5E9"/>
          </a:solidFill>
          <a:ln w="12700">
            <a:solidFill>
              <a:srgbClr val="0EA5E9"/>
            </a:solidFill>
            <a:prstDash val="solid"/>
          </a:ln>
        </p:spPr>
        <p:txBody>
          <a:bodyPr/>
          <a:lstStyle/>
          <a:p>
            <a:endParaRPr lang="en-US"/>
          </a:p>
        </p:txBody>
      </p:sp>
      <p:sp>
        <p:nvSpPr>
          <p:cNvPr id="3" name="Text 1"/>
          <p:cNvSpPr/>
          <p:nvPr/>
        </p:nvSpPr>
        <p:spPr>
          <a:xfrm>
            <a:off x="0" y="0"/>
            <a:ext cx="9144000" cy="475488"/>
          </a:xfrm>
          <a:prstGeom prst="rect">
            <a:avLst/>
          </a:prstGeom>
          <a:noFill/>
          <a:ln/>
        </p:spPr>
        <p:txBody>
          <a:bodyPr wrap="square" lIns="0" tIns="0" rIns="0" bIns="0" rtlCol="0" anchor="ctr"/>
          <a:lstStyle/>
          <a:p>
            <a:pPr marL="0" indent="0" algn="ctr">
              <a:buNone/>
            </a:pPr>
            <a:r>
              <a:rPr lang="en-US" sz="1100" b="1" kern="0" spc="300" dirty="0">
                <a:solidFill>
                  <a:srgbClr val="FFFFFF"/>
                </a:solidFill>
              </a:rPr>
              <a:t>MULTI-SENSOR SPACIAL INTELLIGENCE &amp; ANALYTICS PLATFORM·  MSSIA</a:t>
            </a:r>
            <a:endParaRPr lang="en-US" sz="1100" dirty="0"/>
          </a:p>
        </p:txBody>
      </p:sp>
      <p:pic>
        <p:nvPicPr>
          <p:cNvPr id="4" name="Image 0" descr="preencoded.png"/>
          <p:cNvPicPr>
            <a:picLocks noChangeAspect="1"/>
          </p:cNvPicPr>
          <p:nvPr/>
        </p:nvPicPr>
        <p:blipFill>
          <a:blip r:embed="rId3"/>
          <a:srcRect/>
          <a:stretch/>
        </p:blipFill>
        <p:spPr>
          <a:xfrm>
            <a:off x="274320" y="566928"/>
            <a:ext cx="8595360" cy="3977640"/>
          </a:xfrm>
          <a:prstGeom prst="rect">
            <a:avLst/>
          </a:prstGeom>
        </p:spPr>
      </p:pic>
      <p:sp>
        <p:nvSpPr>
          <p:cNvPr id="5" name="Shape 2"/>
          <p:cNvSpPr/>
          <p:nvPr/>
        </p:nvSpPr>
        <p:spPr>
          <a:xfrm>
            <a:off x="0" y="4681728"/>
            <a:ext cx="9144000" cy="457200"/>
          </a:xfrm>
          <a:prstGeom prst="rect">
            <a:avLst/>
          </a:prstGeom>
          <a:solidFill>
            <a:srgbClr val="112236"/>
          </a:solidFill>
          <a:ln w="12700">
            <a:solidFill>
              <a:srgbClr val="112236"/>
            </a:solidFill>
            <a:prstDash val="solid"/>
          </a:ln>
        </p:spPr>
        <p:txBody>
          <a:bodyPr/>
          <a:lstStyle/>
          <a:p>
            <a:endParaRPr lang="en-US"/>
          </a:p>
        </p:txBody>
      </p:sp>
      <p:sp>
        <p:nvSpPr>
          <p:cNvPr id="6" name="Text 3"/>
          <p:cNvSpPr/>
          <p:nvPr/>
        </p:nvSpPr>
        <p:spPr>
          <a:xfrm>
            <a:off x="0" y="4681728"/>
            <a:ext cx="9144000" cy="457200"/>
          </a:xfrm>
          <a:prstGeom prst="rect">
            <a:avLst/>
          </a:prstGeom>
          <a:noFill/>
          <a:ln/>
        </p:spPr>
        <p:txBody>
          <a:bodyPr wrap="square" lIns="0" tIns="0" rIns="0" bIns="0" rtlCol="0" anchor="ctr"/>
          <a:lstStyle/>
          <a:p>
            <a:pPr marL="0" indent="0" algn="ctr">
              <a:buNone/>
            </a:pPr>
            <a:r>
              <a:rPr lang="en-US" sz="1100" dirty="0">
                <a:solidFill>
                  <a:srgbClr val="94A3B8"/>
                </a:solidFill>
              </a:rPr>
              <a:t>Nokuvimba  ·  B.Eng Software &amp; Electronic Engineering  ·  ATU Galway  ·  2026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032"/>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marL="0" indent="0">
              <a:buNone/>
            </a:pPr>
            <a:r>
              <a:rPr lang="en-US" sz="3000" b="1" dirty="0">
                <a:solidFill>
                  <a:srgbClr val="FFFFFF"/>
                </a:solidFill>
              </a:rPr>
              <a:t>Project Organisation</a:t>
            </a:r>
            <a:endParaRPr lang="en-US" sz="3000" dirty="0"/>
          </a:p>
        </p:txBody>
      </p:sp>
      <p:sp>
        <p:nvSpPr>
          <p:cNvPr id="3" name="Text 1"/>
          <p:cNvSpPr/>
          <p:nvPr/>
        </p:nvSpPr>
        <p:spPr>
          <a:xfrm>
            <a:off x="457200" y="804672"/>
            <a:ext cx="8229600" cy="320040"/>
          </a:xfrm>
          <a:prstGeom prst="rect">
            <a:avLst/>
          </a:prstGeom>
          <a:noFill/>
          <a:ln/>
        </p:spPr>
        <p:txBody>
          <a:bodyPr wrap="square" rtlCol="0" anchor="ctr"/>
          <a:lstStyle/>
          <a:p>
            <a:pPr marL="0" indent="0">
              <a:buNone/>
            </a:pPr>
            <a:r>
              <a:rPr lang="en-US" sz="1300" i="1" dirty="0">
                <a:solidFill>
                  <a:srgbClr val="94A3B8"/>
                </a:solidFill>
              </a:rPr>
              <a:t>How the project was planned, tracked, and managed throughout development</a:t>
            </a:r>
            <a:endParaRPr lang="en-US" sz="1300" dirty="0"/>
          </a:p>
        </p:txBody>
      </p:sp>
      <p:sp>
        <p:nvSpPr>
          <p:cNvPr id="4" name="Shape 2"/>
          <p:cNvSpPr/>
          <p:nvPr/>
        </p:nvSpPr>
        <p:spPr>
          <a:xfrm>
            <a:off x="320040" y="1261872"/>
            <a:ext cx="2743200" cy="34747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320040" y="1261872"/>
            <a:ext cx="2743200" cy="64008"/>
          </a:xfrm>
          <a:prstGeom prst="rect">
            <a:avLst/>
          </a:prstGeom>
          <a:solidFill>
            <a:srgbClr val="0EA5E9"/>
          </a:solidFill>
          <a:ln w="12700">
            <a:solidFill>
              <a:srgbClr val="0EA5E9"/>
            </a:solidFill>
            <a:prstDash val="solid"/>
          </a:ln>
        </p:spPr>
        <p:txBody>
          <a:bodyPr/>
          <a:lstStyle/>
          <a:p>
            <a:endParaRPr lang="en-US"/>
          </a:p>
        </p:txBody>
      </p:sp>
      <p:sp>
        <p:nvSpPr>
          <p:cNvPr id="6" name="Text 4"/>
          <p:cNvSpPr/>
          <p:nvPr/>
        </p:nvSpPr>
        <p:spPr>
          <a:xfrm>
            <a:off x="457200" y="1389888"/>
            <a:ext cx="2468880" cy="438912"/>
          </a:xfrm>
          <a:prstGeom prst="rect">
            <a:avLst/>
          </a:prstGeom>
          <a:noFill/>
          <a:ln/>
        </p:spPr>
        <p:txBody>
          <a:bodyPr wrap="square" rtlCol="0" anchor="ctr"/>
          <a:lstStyle/>
          <a:p>
            <a:pPr marL="0" indent="0">
              <a:buNone/>
            </a:pPr>
            <a:r>
              <a:rPr lang="en-US" sz="1800" b="1" dirty="0">
                <a:solidFill>
                  <a:srgbClr val="0EA5E9"/>
                </a:solidFill>
              </a:rPr>
              <a:t>📋  Jira</a:t>
            </a:r>
            <a:endParaRPr lang="en-US" sz="1800" dirty="0"/>
          </a:p>
        </p:txBody>
      </p:sp>
      <p:sp>
        <p:nvSpPr>
          <p:cNvPr id="7" name="Text 5"/>
          <p:cNvSpPr/>
          <p:nvPr/>
        </p:nvSpPr>
        <p:spPr>
          <a:xfrm>
            <a:off x="457200" y="1783080"/>
            <a:ext cx="2468880" cy="2743200"/>
          </a:xfrm>
          <a:prstGeom prst="rect">
            <a:avLst/>
          </a:prstGeom>
          <a:noFill/>
          <a:ln/>
        </p:spPr>
        <p:txBody>
          <a:bodyPr wrap="square" rtlCol="0" anchor="ctr"/>
          <a:lstStyle/>
          <a:p>
            <a:pPr marL="342900" indent="-342900">
              <a:buSzPct val="100000"/>
              <a:buChar char="•"/>
            </a:pPr>
            <a:r>
              <a:rPr lang="en-US" sz="1200" dirty="0">
                <a:solidFill>
                  <a:srgbClr val="FFFFFF"/>
                </a:solidFill>
              </a:rPr>
              <a:t>Sprint-based Agile workflow</a:t>
            </a:r>
            <a:endParaRPr lang="en-US" sz="1200" dirty="0"/>
          </a:p>
          <a:p>
            <a:pPr marL="342900" indent="-342900">
              <a:buSzPct val="100000"/>
              <a:buChar char="•"/>
            </a:pPr>
            <a:r>
              <a:rPr lang="en-US" sz="1200" dirty="0">
                <a:solidFill>
                  <a:srgbClr val="94A3B8"/>
                </a:solidFill>
              </a:rPr>
              <a:t>Epics broken into user stories &amp; tasks</a:t>
            </a:r>
            <a:endParaRPr lang="en-US" sz="1200" dirty="0"/>
          </a:p>
          <a:p>
            <a:pPr marL="342900" indent="-342900">
              <a:buSzPct val="100000"/>
              <a:buChar char="•"/>
            </a:pPr>
            <a:r>
              <a:rPr lang="en-US" sz="1200" dirty="0">
                <a:solidFill>
                  <a:srgbClr val="94A3B8"/>
                </a:solidFill>
              </a:rPr>
              <a:t>Bug tracking &amp; backlog management</a:t>
            </a:r>
            <a:endParaRPr lang="en-US" sz="1200" dirty="0"/>
          </a:p>
          <a:p>
            <a:pPr marL="342900" indent="-342900">
              <a:buSzPct val="100000"/>
              <a:buChar char="•"/>
            </a:pPr>
            <a:r>
              <a:rPr lang="en-US" sz="1200" dirty="0">
                <a:solidFill>
                  <a:srgbClr val="94A3B8"/>
                </a:solidFill>
              </a:rPr>
              <a:t>Weekly sprint reviews to adjust priorities</a:t>
            </a:r>
            <a:endParaRPr lang="en-US" sz="1200" dirty="0"/>
          </a:p>
        </p:txBody>
      </p:sp>
      <p:sp>
        <p:nvSpPr>
          <p:cNvPr id="8" name="Shape 6"/>
          <p:cNvSpPr/>
          <p:nvPr/>
        </p:nvSpPr>
        <p:spPr>
          <a:xfrm>
            <a:off x="3200400" y="1261872"/>
            <a:ext cx="2743200" cy="34747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3200400" y="1261872"/>
            <a:ext cx="2743200" cy="64008"/>
          </a:xfrm>
          <a:prstGeom prst="rect">
            <a:avLst/>
          </a:prstGeom>
          <a:solidFill>
            <a:srgbClr val="10B981"/>
          </a:solidFill>
          <a:ln w="12700">
            <a:solidFill>
              <a:srgbClr val="10B981"/>
            </a:solidFill>
            <a:prstDash val="solid"/>
          </a:ln>
        </p:spPr>
        <p:txBody>
          <a:bodyPr/>
          <a:lstStyle/>
          <a:p>
            <a:endParaRPr lang="en-US"/>
          </a:p>
        </p:txBody>
      </p:sp>
      <p:sp>
        <p:nvSpPr>
          <p:cNvPr id="10" name="Text 8"/>
          <p:cNvSpPr/>
          <p:nvPr/>
        </p:nvSpPr>
        <p:spPr>
          <a:xfrm>
            <a:off x="3337560" y="1389888"/>
            <a:ext cx="2468880" cy="438912"/>
          </a:xfrm>
          <a:prstGeom prst="rect">
            <a:avLst/>
          </a:prstGeom>
          <a:noFill/>
          <a:ln/>
        </p:spPr>
        <p:txBody>
          <a:bodyPr wrap="square" rtlCol="0" anchor="ctr"/>
          <a:lstStyle/>
          <a:p>
            <a:pPr marL="0" indent="0">
              <a:buNone/>
            </a:pPr>
            <a:r>
              <a:rPr lang="en-US" sz="1800" b="1" dirty="0">
                <a:solidFill>
                  <a:srgbClr val="10B981"/>
                </a:solidFill>
              </a:rPr>
              <a:t>📓  OneNote</a:t>
            </a:r>
            <a:endParaRPr lang="en-US" sz="1800" dirty="0"/>
          </a:p>
        </p:txBody>
      </p:sp>
      <p:sp>
        <p:nvSpPr>
          <p:cNvPr id="11" name="Text 9"/>
          <p:cNvSpPr/>
          <p:nvPr/>
        </p:nvSpPr>
        <p:spPr>
          <a:xfrm>
            <a:off x="3337560" y="1783080"/>
            <a:ext cx="2468880" cy="2743200"/>
          </a:xfrm>
          <a:prstGeom prst="rect">
            <a:avLst/>
          </a:prstGeom>
          <a:noFill/>
          <a:ln/>
        </p:spPr>
        <p:txBody>
          <a:bodyPr wrap="square" rtlCol="0" anchor="ctr"/>
          <a:lstStyle/>
          <a:p>
            <a:pPr marL="342900" indent="-342900">
              <a:buSzPct val="100000"/>
              <a:buChar char="•"/>
            </a:pPr>
            <a:r>
              <a:rPr lang="en-US" sz="1200" dirty="0">
                <a:solidFill>
                  <a:srgbClr val="FFFFFF"/>
                </a:solidFill>
              </a:rPr>
              <a:t>Research notes &amp; literature review</a:t>
            </a:r>
            <a:endParaRPr lang="en-US" sz="1200" dirty="0"/>
          </a:p>
          <a:p>
            <a:pPr marL="342900" indent="-342900">
              <a:buSzPct val="100000"/>
              <a:buChar char="•"/>
            </a:pPr>
            <a:r>
              <a:rPr lang="en-US" sz="1200" dirty="0">
                <a:solidFill>
                  <a:srgbClr val="94A3B8"/>
                </a:solidFill>
              </a:rPr>
              <a:t>Meeting notes from supervisor sessions</a:t>
            </a:r>
            <a:endParaRPr lang="en-US" sz="1200" dirty="0"/>
          </a:p>
          <a:p>
            <a:pPr marL="342900" indent="-342900">
              <a:buSzPct val="100000"/>
              <a:buChar char="•"/>
            </a:pPr>
            <a:r>
              <a:rPr lang="en-US" sz="1200" dirty="0">
                <a:solidFill>
                  <a:srgbClr val="94A3B8"/>
                </a:solidFill>
              </a:rPr>
              <a:t>Prompt log documentation</a:t>
            </a:r>
            <a:endParaRPr lang="en-US" sz="1200" dirty="0"/>
          </a:p>
          <a:p>
            <a:pPr marL="342900" indent="-342900">
              <a:buSzPct val="100000"/>
              <a:buChar char="•"/>
            </a:pPr>
            <a:r>
              <a:rPr lang="en-US" sz="1200" dirty="0">
                <a:solidFill>
                  <a:srgbClr val="94A3B8"/>
                </a:solidFill>
              </a:rPr>
              <a:t>Design decisions &amp; reasoning records</a:t>
            </a:r>
            <a:endParaRPr lang="en-US" sz="1200" dirty="0"/>
          </a:p>
        </p:txBody>
      </p:sp>
      <p:sp>
        <p:nvSpPr>
          <p:cNvPr id="12" name="Shape 10"/>
          <p:cNvSpPr/>
          <p:nvPr/>
        </p:nvSpPr>
        <p:spPr>
          <a:xfrm>
            <a:off x="6080760" y="1261872"/>
            <a:ext cx="2743200" cy="34747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6080760" y="1261872"/>
            <a:ext cx="2743200" cy="64008"/>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6217920" y="1389888"/>
            <a:ext cx="2468880" cy="438912"/>
          </a:xfrm>
          <a:prstGeom prst="rect">
            <a:avLst/>
          </a:prstGeom>
          <a:noFill/>
          <a:ln/>
        </p:spPr>
        <p:txBody>
          <a:bodyPr wrap="square" rtlCol="0" anchor="ctr"/>
          <a:lstStyle/>
          <a:p>
            <a:pPr marL="0" indent="0">
              <a:buNone/>
            </a:pPr>
            <a:r>
              <a:rPr lang="en-US" sz="1800" b="1" dirty="0">
                <a:solidFill>
                  <a:srgbClr val="F59E0B"/>
                </a:solidFill>
              </a:rPr>
              <a:t>🐙  GitHub</a:t>
            </a:r>
            <a:endParaRPr lang="en-US" sz="1800" dirty="0"/>
          </a:p>
        </p:txBody>
      </p:sp>
      <p:sp>
        <p:nvSpPr>
          <p:cNvPr id="15" name="Text 13"/>
          <p:cNvSpPr/>
          <p:nvPr/>
        </p:nvSpPr>
        <p:spPr>
          <a:xfrm>
            <a:off x="6217920" y="1783080"/>
            <a:ext cx="2468880" cy="2743200"/>
          </a:xfrm>
          <a:prstGeom prst="rect">
            <a:avLst/>
          </a:prstGeom>
          <a:noFill/>
          <a:ln/>
        </p:spPr>
        <p:txBody>
          <a:bodyPr wrap="square" rtlCol="0" anchor="ctr"/>
          <a:lstStyle/>
          <a:p>
            <a:pPr marL="342900" indent="-342900">
              <a:buSzPct val="100000"/>
              <a:buChar char="•"/>
            </a:pPr>
            <a:r>
              <a:rPr lang="en-US" sz="1200" dirty="0">
                <a:solidFill>
                  <a:srgbClr val="FFFFFF"/>
                </a:solidFill>
              </a:rPr>
              <a:t>Version control for all code changes</a:t>
            </a:r>
            <a:endParaRPr lang="en-US" sz="1200" dirty="0"/>
          </a:p>
          <a:p>
            <a:pPr marL="342900" indent="-342900">
              <a:buSzPct val="100000"/>
              <a:buChar char="•"/>
            </a:pPr>
            <a:r>
              <a:rPr lang="en-US" sz="1200" dirty="0">
                <a:solidFill>
                  <a:srgbClr val="94A3B8"/>
                </a:solidFill>
              </a:rPr>
              <a:t>Feature branch workflow</a:t>
            </a:r>
            <a:endParaRPr lang="en-US" sz="1200" dirty="0"/>
          </a:p>
          <a:p>
            <a:pPr marL="342900" indent="-342900">
              <a:buSzPct val="100000"/>
              <a:buChar char="•"/>
            </a:pPr>
            <a:r>
              <a:rPr lang="en-US" sz="1200" dirty="0">
                <a:solidFill>
                  <a:srgbClr val="94A3B8"/>
                </a:solidFill>
              </a:rPr>
              <a:t>Commit history as dev timeline</a:t>
            </a:r>
            <a:endParaRPr lang="en-US" sz="1200" dirty="0"/>
          </a:p>
          <a:p>
            <a:pPr marL="342900" indent="-342900">
              <a:buSzPct val="100000"/>
              <a:buChar char="•"/>
            </a:pPr>
            <a:r>
              <a:rPr lang="en-US" sz="1200" dirty="0">
                <a:solidFill>
                  <a:srgbClr val="94A3B8"/>
                </a:solidFill>
              </a:rPr>
              <a:t>README &amp; project documentation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0F6FF"/>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48640"/>
          </a:xfrm>
          <a:prstGeom prst="rect">
            <a:avLst/>
          </a:prstGeom>
          <a:noFill/>
          <a:ln/>
        </p:spPr>
        <p:txBody>
          <a:bodyPr wrap="square" rtlCol="0" anchor="ctr"/>
          <a:lstStyle/>
          <a:p>
            <a:pPr marL="0" indent="0">
              <a:buNone/>
            </a:pPr>
            <a:r>
              <a:rPr lang="en-US" sz="2800" b="1" dirty="0">
                <a:solidFill>
                  <a:srgbClr val="1E293B"/>
                </a:solidFill>
              </a:rPr>
              <a:t>Technologies Used</a:t>
            </a:r>
            <a:endParaRPr lang="en-US" sz="2800" dirty="0"/>
          </a:p>
        </p:txBody>
      </p:sp>
      <p:sp>
        <p:nvSpPr>
          <p:cNvPr id="3" name="Shape 1"/>
          <p:cNvSpPr/>
          <p:nvPr/>
        </p:nvSpPr>
        <p:spPr>
          <a:xfrm>
            <a:off x="365760" y="914400"/>
            <a:ext cx="2651760" cy="338328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4" name="Shape 2"/>
          <p:cNvSpPr/>
          <p:nvPr/>
        </p:nvSpPr>
        <p:spPr>
          <a:xfrm>
            <a:off x="365760" y="914400"/>
            <a:ext cx="2651760" cy="54864"/>
          </a:xfrm>
          <a:prstGeom prst="rect">
            <a:avLst/>
          </a:prstGeom>
          <a:solidFill>
            <a:srgbClr val="10B981"/>
          </a:solidFill>
          <a:ln w="12700">
            <a:solidFill>
              <a:srgbClr val="10B981"/>
            </a:solidFill>
            <a:prstDash val="solid"/>
          </a:ln>
        </p:spPr>
        <p:txBody>
          <a:bodyPr/>
          <a:lstStyle/>
          <a:p>
            <a:endParaRPr lang="en-US"/>
          </a:p>
        </p:txBody>
      </p:sp>
      <p:sp>
        <p:nvSpPr>
          <p:cNvPr id="5" name="Text 3"/>
          <p:cNvSpPr/>
          <p:nvPr/>
        </p:nvSpPr>
        <p:spPr>
          <a:xfrm>
            <a:off x="457200" y="1005840"/>
            <a:ext cx="2468880" cy="384048"/>
          </a:xfrm>
          <a:prstGeom prst="rect">
            <a:avLst/>
          </a:prstGeom>
          <a:noFill/>
          <a:ln/>
        </p:spPr>
        <p:txBody>
          <a:bodyPr wrap="square" rtlCol="0" anchor="ctr"/>
          <a:lstStyle/>
          <a:p>
            <a:pPr marL="0" indent="0">
              <a:buNone/>
            </a:pPr>
            <a:r>
              <a:rPr lang="en-US" sz="1200" b="1" dirty="0">
                <a:solidFill>
                  <a:srgbClr val="10B981"/>
                </a:solidFill>
              </a:rPr>
              <a:t>🔧  HARDWARE</a:t>
            </a:r>
            <a:endParaRPr lang="en-US" sz="1200" dirty="0"/>
          </a:p>
        </p:txBody>
      </p:sp>
      <p:sp>
        <p:nvSpPr>
          <p:cNvPr id="6" name="Text 4"/>
          <p:cNvSpPr/>
          <p:nvPr/>
        </p:nvSpPr>
        <p:spPr>
          <a:xfrm>
            <a:off x="457200" y="1298448"/>
            <a:ext cx="2468880" cy="2743200"/>
          </a:xfrm>
          <a:prstGeom prst="rect">
            <a:avLst/>
          </a:prstGeom>
          <a:noFill/>
          <a:ln/>
        </p:spPr>
        <p:txBody>
          <a:bodyPr wrap="square" rtlCol="0" anchor="ctr"/>
          <a:lstStyle/>
          <a:p>
            <a:pPr marL="342900" indent="-342900">
              <a:buSzPct val="100000"/>
              <a:buChar char="•"/>
            </a:pPr>
            <a:r>
              <a:rPr lang="en-US" sz="1200" dirty="0">
                <a:solidFill>
                  <a:srgbClr val="1E293B"/>
                </a:solidFill>
              </a:rPr>
              <a:t>ESP32 Microcontroller</a:t>
            </a:r>
            <a:endParaRPr lang="en-US" sz="1200" dirty="0"/>
          </a:p>
          <a:p>
            <a:pPr marL="342900" indent="-342900">
              <a:buSzPct val="100000"/>
              <a:buChar char="•"/>
            </a:pPr>
            <a:r>
              <a:rPr lang="en-US" sz="1100" i="1" dirty="0">
                <a:solidFill>
                  <a:srgbClr val="475569"/>
                </a:solidFill>
              </a:rPr>
              <a:t>C/C++ · Arduino framework</a:t>
            </a:r>
            <a:endParaRPr lang="en-US" sz="1200" dirty="0"/>
          </a:p>
          <a:p>
            <a:pPr marL="342900" indent="-342900">
              <a:buSzPct val="100000"/>
              <a:buChar char="•"/>
            </a:pPr>
            <a:r>
              <a:rPr lang="en-US" sz="1200" dirty="0">
                <a:solidFill>
                  <a:srgbClr val="1E293B"/>
                </a:solidFill>
              </a:rPr>
              <a:t>DHT22 – Temp &amp; Humidity</a:t>
            </a:r>
            <a:endParaRPr lang="en-US" sz="1200" dirty="0"/>
          </a:p>
          <a:p>
            <a:pPr marL="342900" indent="-342900">
              <a:buSzPct val="100000"/>
              <a:buChar char="•"/>
            </a:pPr>
            <a:r>
              <a:rPr lang="en-US" sz="1200" dirty="0">
                <a:solidFill>
                  <a:srgbClr val="1E293B"/>
                </a:solidFill>
              </a:rPr>
              <a:t>MQ-135 – Air Quality</a:t>
            </a:r>
            <a:endParaRPr lang="en-US" sz="1200" dirty="0"/>
          </a:p>
          <a:p>
            <a:pPr marL="342900" indent="-342900">
              <a:buSzPct val="100000"/>
              <a:buChar char="•"/>
            </a:pPr>
            <a:r>
              <a:rPr lang="en-US" sz="1200" dirty="0">
                <a:solidFill>
                  <a:srgbClr val="1E293B"/>
                </a:solidFill>
              </a:rPr>
              <a:t>Wi-Fi scanning via HTTPClient</a:t>
            </a:r>
            <a:endParaRPr lang="en-US" sz="1200" dirty="0"/>
          </a:p>
          <a:p>
            <a:pPr marL="342900" indent="-342900">
              <a:buSzPct val="100000"/>
              <a:buChar char="•"/>
            </a:pPr>
            <a:r>
              <a:rPr lang="en-US" sz="1100" i="1" dirty="0">
                <a:solidFill>
                  <a:srgbClr val="475569"/>
                </a:solidFill>
              </a:rPr>
              <a:t>ArduinoJson · GPIO pins 4 &amp; 34</a:t>
            </a:r>
            <a:endParaRPr lang="en-US" sz="1200" dirty="0"/>
          </a:p>
        </p:txBody>
      </p:sp>
      <p:sp>
        <p:nvSpPr>
          <p:cNvPr id="7" name="Shape 5"/>
          <p:cNvSpPr/>
          <p:nvPr/>
        </p:nvSpPr>
        <p:spPr>
          <a:xfrm>
            <a:off x="3246120" y="914400"/>
            <a:ext cx="2651760" cy="338328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8" name="Shape 6"/>
          <p:cNvSpPr/>
          <p:nvPr/>
        </p:nvSpPr>
        <p:spPr>
          <a:xfrm>
            <a:off x="3246120" y="914400"/>
            <a:ext cx="2651760" cy="54864"/>
          </a:xfrm>
          <a:prstGeom prst="rect">
            <a:avLst/>
          </a:prstGeom>
          <a:solidFill>
            <a:srgbClr val="0EA5E9"/>
          </a:solidFill>
          <a:ln w="12700">
            <a:solidFill>
              <a:srgbClr val="0EA5E9"/>
            </a:solidFill>
            <a:prstDash val="solid"/>
          </a:ln>
        </p:spPr>
        <p:txBody>
          <a:bodyPr/>
          <a:lstStyle/>
          <a:p>
            <a:endParaRPr lang="en-US"/>
          </a:p>
        </p:txBody>
      </p:sp>
      <p:sp>
        <p:nvSpPr>
          <p:cNvPr id="9" name="Text 7"/>
          <p:cNvSpPr/>
          <p:nvPr/>
        </p:nvSpPr>
        <p:spPr>
          <a:xfrm>
            <a:off x="3337560" y="1005840"/>
            <a:ext cx="2468880" cy="384048"/>
          </a:xfrm>
          <a:prstGeom prst="rect">
            <a:avLst/>
          </a:prstGeom>
          <a:noFill/>
          <a:ln/>
        </p:spPr>
        <p:txBody>
          <a:bodyPr wrap="square" rtlCol="0" anchor="ctr"/>
          <a:lstStyle/>
          <a:p>
            <a:pPr marL="0" indent="0">
              <a:buNone/>
            </a:pPr>
            <a:r>
              <a:rPr lang="en-US" sz="1200" b="1" dirty="0">
                <a:solidFill>
                  <a:srgbClr val="0EA5E9"/>
                </a:solidFill>
              </a:rPr>
              <a:t>⚙️  BACKEND &amp; DATABASE</a:t>
            </a:r>
            <a:endParaRPr lang="en-US" sz="1200" dirty="0"/>
          </a:p>
        </p:txBody>
      </p:sp>
      <p:sp>
        <p:nvSpPr>
          <p:cNvPr id="10" name="Text 8"/>
          <p:cNvSpPr/>
          <p:nvPr/>
        </p:nvSpPr>
        <p:spPr>
          <a:xfrm>
            <a:off x="3337560" y="1298448"/>
            <a:ext cx="2468880" cy="2743200"/>
          </a:xfrm>
          <a:prstGeom prst="rect">
            <a:avLst/>
          </a:prstGeom>
          <a:noFill/>
          <a:ln/>
        </p:spPr>
        <p:txBody>
          <a:bodyPr wrap="square" rtlCol="0" anchor="ctr"/>
          <a:lstStyle/>
          <a:p>
            <a:pPr marL="342900" indent="-342900">
              <a:buSzPct val="100000"/>
              <a:buChar char="•"/>
            </a:pPr>
            <a:r>
              <a:rPr lang="en-US" sz="1200" dirty="0">
                <a:solidFill>
                  <a:srgbClr val="1E293B"/>
                </a:solidFill>
              </a:rPr>
              <a:t>FastAPI (Python 3)</a:t>
            </a:r>
            <a:endParaRPr lang="en-US" sz="1200" dirty="0"/>
          </a:p>
          <a:p>
            <a:pPr marL="342900" indent="-342900">
              <a:buSzPct val="100000"/>
              <a:buChar char="•"/>
            </a:pPr>
            <a:r>
              <a:rPr lang="en-US" sz="1200" dirty="0">
                <a:solidFill>
                  <a:srgbClr val="1E293B"/>
                </a:solidFill>
              </a:rPr>
              <a:t>SQLAlchemy ORM</a:t>
            </a:r>
            <a:endParaRPr lang="en-US" sz="1200" dirty="0"/>
          </a:p>
          <a:p>
            <a:pPr marL="342900" indent="-342900">
              <a:buSzPct val="100000"/>
              <a:buChar char="•"/>
            </a:pPr>
            <a:r>
              <a:rPr lang="en-US" sz="1200" dirty="0">
                <a:solidFill>
                  <a:srgbClr val="1E293B"/>
                </a:solidFill>
              </a:rPr>
              <a:t>PostgreSQL database</a:t>
            </a:r>
            <a:endParaRPr lang="en-US" sz="1200" dirty="0"/>
          </a:p>
          <a:p>
            <a:pPr marL="342900" indent="-342900">
              <a:buSzPct val="100000"/>
              <a:buChar char="•"/>
            </a:pPr>
            <a:r>
              <a:rPr lang="en-US" sz="1200" dirty="0">
                <a:solidFill>
                  <a:srgbClr val="1E293B"/>
                </a:solidFill>
              </a:rPr>
              <a:t>JWT authentication</a:t>
            </a:r>
            <a:endParaRPr lang="en-US" sz="1200" dirty="0"/>
          </a:p>
          <a:p>
            <a:pPr marL="342900" indent="-342900">
              <a:buSzPct val="100000"/>
              <a:buChar char="•"/>
            </a:pPr>
            <a:r>
              <a:rPr lang="en-US" sz="1200" dirty="0">
                <a:solidFill>
                  <a:srgbClr val="1E293B"/>
                </a:solidFill>
              </a:rPr>
              <a:t>AWS EC2 · Nginx · Elastic IP</a:t>
            </a:r>
            <a:endParaRPr lang="en-US" sz="1200" dirty="0"/>
          </a:p>
          <a:p>
            <a:pPr marL="342900" indent="-342900">
              <a:buSzPct val="100000"/>
              <a:buChar char="•"/>
            </a:pPr>
            <a:r>
              <a:rPr lang="en-US" sz="1100" i="1" dirty="0">
                <a:solidFill>
                  <a:srgbClr val="475569"/>
                </a:solidFill>
              </a:rPr>
              <a:t>DuckDNS · Let's Encrypt HTTPS</a:t>
            </a:r>
            <a:endParaRPr lang="en-US" sz="1200" dirty="0"/>
          </a:p>
        </p:txBody>
      </p:sp>
      <p:sp>
        <p:nvSpPr>
          <p:cNvPr id="11" name="Shape 9"/>
          <p:cNvSpPr/>
          <p:nvPr/>
        </p:nvSpPr>
        <p:spPr>
          <a:xfrm>
            <a:off x="6126480" y="914400"/>
            <a:ext cx="2651760" cy="338328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6126480" y="914400"/>
            <a:ext cx="2651760" cy="54864"/>
          </a:xfrm>
          <a:prstGeom prst="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6217920" y="1005840"/>
            <a:ext cx="2468880" cy="384048"/>
          </a:xfrm>
          <a:prstGeom prst="rect">
            <a:avLst/>
          </a:prstGeom>
          <a:noFill/>
          <a:ln/>
        </p:spPr>
        <p:txBody>
          <a:bodyPr wrap="square" rtlCol="0" anchor="ctr"/>
          <a:lstStyle/>
          <a:p>
            <a:pPr marL="0" indent="0">
              <a:buNone/>
            </a:pPr>
            <a:r>
              <a:rPr lang="en-US" sz="1200" b="1" dirty="0">
                <a:solidFill>
                  <a:srgbClr val="F59E0B"/>
                </a:solidFill>
              </a:rPr>
              <a:t>🖥️  FRONTEND &amp; CLOUD</a:t>
            </a:r>
            <a:endParaRPr lang="en-US" sz="1200" dirty="0"/>
          </a:p>
        </p:txBody>
      </p:sp>
      <p:sp>
        <p:nvSpPr>
          <p:cNvPr id="14" name="Text 12"/>
          <p:cNvSpPr/>
          <p:nvPr/>
        </p:nvSpPr>
        <p:spPr>
          <a:xfrm>
            <a:off x="6217920" y="1298448"/>
            <a:ext cx="2468880" cy="2743200"/>
          </a:xfrm>
          <a:prstGeom prst="rect">
            <a:avLst/>
          </a:prstGeom>
          <a:noFill/>
          <a:ln/>
        </p:spPr>
        <p:txBody>
          <a:bodyPr wrap="square" rtlCol="0" anchor="ctr"/>
          <a:lstStyle/>
          <a:p>
            <a:pPr marL="342900" indent="-342900">
              <a:buSzPct val="100000"/>
              <a:buChar char="•"/>
            </a:pPr>
            <a:r>
              <a:rPr lang="en-US" sz="1200" dirty="0">
                <a:solidFill>
                  <a:srgbClr val="1E293B"/>
                </a:solidFill>
              </a:rPr>
              <a:t>Next.js 16 · React 18</a:t>
            </a:r>
            <a:endParaRPr lang="en-US" sz="1200" dirty="0"/>
          </a:p>
          <a:p>
            <a:pPr marL="342900" indent="-342900">
              <a:buSzPct val="100000"/>
              <a:buChar char="•"/>
            </a:pPr>
            <a:r>
              <a:rPr lang="en-US" sz="1200" dirty="0">
                <a:solidFill>
                  <a:srgbClr val="1E293B"/>
                </a:solidFill>
              </a:rPr>
              <a:t>TypeScript</a:t>
            </a:r>
            <a:endParaRPr lang="en-US" sz="1200" dirty="0"/>
          </a:p>
          <a:p>
            <a:pPr marL="342900" indent="-342900">
              <a:buSzPct val="100000"/>
              <a:buChar char="•"/>
            </a:pPr>
            <a:r>
              <a:rPr lang="en-US" sz="1200" dirty="0">
                <a:solidFill>
                  <a:srgbClr val="1E293B"/>
                </a:solidFill>
              </a:rPr>
              <a:t>Custom SVG charts</a:t>
            </a:r>
            <a:endParaRPr lang="en-US" sz="1200" dirty="0"/>
          </a:p>
          <a:p>
            <a:pPr marL="342900" indent="-342900">
              <a:buSzPct val="100000"/>
              <a:buChar char="•"/>
            </a:pPr>
            <a:r>
              <a:rPr lang="en-US" sz="1200" dirty="0">
                <a:solidFill>
                  <a:srgbClr val="1E293B"/>
                </a:solidFill>
              </a:rPr>
              <a:t>Heatmap visualisation</a:t>
            </a:r>
            <a:endParaRPr lang="en-US" sz="1200" dirty="0"/>
          </a:p>
          <a:p>
            <a:pPr marL="342900" indent="-342900">
              <a:buSzPct val="100000"/>
              <a:buChar char="•"/>
            </a:pPr>
            <a:r>
              <a:rPr lang="en-US" sz="1200" dirty="0">
                <a:solidFill>
                  <a:srgbClr val="1E293B"/>
                </a:solidFill>
              </a:rPr>
              <a:t>Vercel (deployment)</a:t>
            </a:r>
            <a:endParaRPr lang="en-US" sz="1200" dirty="0"/>
          </a:p>
          <a:p>
            <a:pPr marL="342900" indent="-342900">
              <a:buSzPct val="100000"/>
              <a:buChar char="•"/>
            </a:pPr>
            <a:r>
              <a:rPr lang="en-US" sz="1100" i="1" dirty="0">
                <a:solidFill>
                  <a:srgbClr val="475569"/>
                </a:solidFill>
              </a:rPr>
              <a:t>Admin Studio + Floor Plans UI</a:t>
            </a:r>
            <a:endParaRPr lang="en-US" sz="1200" dirty="0"/>
          </a:p>
        </p:txBody>
      </p:sp>
      <p:sp>
        <p:nvSpPr>
          <p:cNvPr id="15" name="Shape 13"/>
          <p:cNvSpPr/>
          <p:nvPr/>
        </p:nvSpPr>
        <p:spPr>
          <a:xfrm>
            <a:off x="365760" y="4297680"/>
            <a:ext cx="8412480" cy="54864"/>
          </a:xfrm>
          <a:prstGeom prst="rect">
            <a:avLst/>
          </a:prstGeom>
          <a:solidFill>
            <a:srgbClr val="E2E8F0"/>
          </a:solidFill>
          <a:ln w="12700">
            <a:solidFill>
              <a:srgbClr val="E2E8F0"/>
            </a:solidFill>
            <a:prstDash val="solid"/>
          </a:ln>
        </p:spPr>
        <p:txBody>
          <a:bodyPr/>
          <a:lstStyle/>
          <a:p>
            <a:endParaRPr lang="en-US"/>
          </a:p>
        </p:txBody>
      </p:sp>
      <p:sp>
        <p:nvSpPr>
          <p:cNvPr id="16" name="Text 14"/>
          <p:cNvSpPr/>
          <p:nvPr/>
        </p:nvSpPr>
        <p:spPr>
          <a:xfrm>
            <a:off x="457200" y="4370832"/>
            <a:ext cx="2286000" cy="274320"/>
          </a:xfrm>
          <a:prstGeom prst="rect">
            <a:avLst/>
          </a:prstGeom>
          <a:noFill/>
          <a:ln/>
        </p:spPr>
        <p:txBody>
          <a:bodyPr wrap="square" rtlCol="0" anchor="ctr"/>
          <a:lstStyle/>
          <a:p>
            <a:pPr marL="0" indent="0">
              <a:buNone/>
            </a:pPr>
            <a:r>
              <a:rPr lang="en-US" sz="1100" b="1" dirty="0">
                <a:solidFill>
                  <a:srgbClr val="475569"/>
                </a:solidFill>
              </a:rPr>
              <a:t>🤖  AI TOOLS USED</a:t>
            </a:r>
            <a:endParaRPr lang="en-US" sz="1100" dirty="0"/>
          </a:p>
        </p:txBody>
      </p:sp>
      <p:sp>
        <p:nvSpPr>
          <p:cNvPr id="17" name="Shape 15"/>
          <p:cNvSpPr/>
          <p:nvPr/>
        </p:nvSpPr>
        <p:spPr>
          <a:xfrm>
            <a:off x="365760" y="4663440"/>
            <a:ext cx="2011680" cy="411480"/>
          </a:xfrm>
          <a:prstGeom prst="rect">
            <a:avLst/>
          </a:prstGeom>
          <a:solidFill>
            <a:srgbClr val="0A1628"/>
          </a:solidFill>
          <a:ln w="12700">
            <a:solidFill>
              <a:srgbClr val="0A1628"/>
            </a:solidFill>
            <a:prstDash val="solid"/>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457200" y="4672584"/>
            <a:ext cx="1828800" cy="393192"/>
          </a:xfrm>
          <a:prstGeom prst="rect">
            <a:avLst/>
          </a:prstGeom>
          <a:noFill/>
          <a:ln/>
        </p:spPr>
        <p:txBody>
          <a:bodyPr wrap="square" rtlCol="0" anchor="ctr"/>
          <a:lstStyle/>
          <a:p>
            <a:pPr marL="0" indent="0">
              <a:buNone/>
            </a:pPr>
            <a:r>
              <a:rPr lang="en-US" sz="1000" b="1" dirty="0">
                <a:solidFill>
                  <a:srgbClr val="0EA5E9"/>
                </a:solidFill>
              </a:rPr>
              <a:t>Claude  </a:t>
            </a:r>
            <a:r>
              <a:rPr lang="en-US" sz="900" dirty="0">
                <a:solidFill>
                  <a:srgbClr val="94A3B8"/>
                </a:solidFill>
              </a:rPr>
              <a:t>Main dev — code, debug &amp; docs</a:t>
            </a:r>
            <a:endParaRPr lang="en-US" sz="1000" dirty="0"/>
          </a:p>
        </p:txBody>
      </p:sp>
      <p:sp>
        <p:nvSpPr>
          <p:cNvPr id="19" name="Shape 17"/>
          <p:cNvSpPr/>
          <p:nvPr/>
        </p:nvSpPr>
        <p:spPr>
          <a:xfrm>
            <a:off x="2560320" y="4663440"/>
            <a:ext cx="2011680" cy="411480"/>
          </a:xfrm>
          <a:prstGeom prst="rect">
            <a:avLst/>
          </a:prstGeom>
          <a:solidFill>
            <a:srgbClr val="0A1628"/>
          </a:solidFill>
          <a:ln w="12700">
            <a:solidFill>
              <a:srgbClr val="0A1628"/>
            </a:solidFill>
            <a:prstDash val="solid"/>
          </a:ln>
          <a:effectLst>
            <a:outerShdw blurRad="101600" dist="38100" dir="8100000" algn="bl" rotWithShape="0">
              <a:srgbClr val="000000">
                <a:alpha val="18000"/>
              </a:srgbClr>
            </a:outerShdw>
          </a:effectLst>
        </p:spPr>
        <p:txBody>
          <a:bodyPr/>
          <a:lstStyle/>
          <a:p>
            <a:endParaRPr lang="en-US"/>
          </a:p>
        </p:txBody>
      </p:sp>
      <p:sp>
        <p:nvSpPr>
          <p:cNvPr id="20" name="Text 18"/>
          <p:cNvSpPr/>
          <p:nvPr/>
        </p:nvSpPr>
        <p:spPr>
          <a:xfrm>
            <a:off x="2651760" y="4672584"/>
            <a:ext cx="1828800" cy="393192"/>
          </a:xfrm>
          <a:prstGeom prst="rect">
            <a:avLst/>
          </a:prstGeom>
          <a:noFill/>
          <a:ln/>
        </p:spPr>
        <p:txBody>
          <a:bodyPr wrap="square" rtlCol="0" anchor="ctr"/>
          <a:lstStyle/>
          <a:p>
            <a:pPr marL="0" indent="0">
              <a:buNone/>
            </a:pPr>
            <a:r>
              <a:rPr lang="en-US" sz="1000" b="1" dirty="0">
                <a:solidFill>
                  <a:srgbClr val="0EA5E9"/>
                </a:solidFill>
              </a:rPr>
              <a:t>ChatGPT  </a:t>
            </a:r>
            <a:r>
              <a:rPr lang="en-US" sz="900" dirty="0">
                <a:solidFill>
                  <a:srgbClr val="94A3B8"/>
                </a:solidFill>
              </a:rPr>
              <a:t>Early brainstorming &amp; documentation</a:t>
            </a:r>
            <a:endParaRPr lang="en-US" sz="1000" dirty="0"/>
          </a:p>
        </p:txBody>
      </p:sp>
      <p:sp>
        <p:nvSpPr>
          <p:cNvPr id="21" name="Shape 19"/>
          <p:cNvSpPr/>
          <p:nvPr/>
        </p:nvSpPr>
        <p:spPr>
          <a:xfrm>
            <a:off x="4754880" y="4663440"/>
            <a:ext cx="2011680" cy="411480"/>
          </a:xfrm>
          <a:prstGeom prst="rect">
            <a:avLst/>
          </a:prstGeom>
          <a:solidFill>
            <a:srgbClr val="0A1628"/>
          </a:solidFill>
          <a:ln w="12700">
            <a:solidFill>
              <a:srgbClr val="0A1628"/>
            </a:solidFill>
            <a:prstDash val="solid"/>
          </a:ln>
          <a:effectLst>
            <a:outerShdw blurRad="101600" dist="38100" dir="8100000" algn="bl" rotWithShape="0">
              <a:srgbClr val="000000">
                <a:alpha val="18000"/>
              </a:srgbClr>
            </a:outerShdw>
          </a:effectLst>
        </p:spPr>
        <p:txBody>
          <a:bodyPr/>
          <a:lstStyle/>
          <a:p>
            <a:endParaRPr lang="en-US"/>
          </a:p>
        </p:txBody>
      </p:sp>
      <p:sp>
        <p:nvSpPr>
          <p:cNvPr id="22" name="Text 20"/>
          <p:cNvSpPr/>
          <p:nvPr/>
        </p:nvSpPr>
        <p:spPr>
          <a:xfrm>
            <a:off x="4846320" y="4672584"/>
            <a:ext cx="1828800" cy="393192"/>
          </a:xfrm>
          <a:prstGeom prst="rect">
            <a:avLst/>
          </a:prstGeom>
          <a:noFill/>
          <a:ln/>
        </p:spPr>
        <p:txBody>
          <a:bodyPr wrap="square" rtlCol="0" anchor="ctr"/>
          <a:lstStyle/>
          <a:p>
            <a:pPr marL="0" indent="0">
              <a:buNone/>
            </a:pPr>
            <a:r>
              <a:rPr lang="en-US" sz="1000" b="1" dirty="0">
                <a:solidFill>
                  <a:srgbClr val="0EA5E9"/>
                </a:solidFill>
              </a:rPr>
              <a:t>Amazon Q  </a:t>
            </a:r>
            <a:r>
              <a:rPr lang="en-US" sz="900" dirty="0">
                <a:solidFill>
                  <a:srgbClr val="94A3B8"/>
                </a:solidFill>
              </a:rPr>
              <a:t>CLI edits &amp; error detection</a:t>
            </a:r>
            <a:endParaRPr lang="en-US" sz="1000" dirty="0"/>
          </a:p>
        </p:txBody>
      </p:sp>
      <p:sp>
        <p:nvSpPr>
          <p:cNvPr id="23" name="Shape 21"/>
          <p:cNvSpPr/>
          <p:nvPr/>
        </p:nvSpPr>
        <p:spPr>
          <a:xfrm>
            <a:off x="6949440" y="4663440"/>
            <a:ext cx="2011680" cy="411480"/>
          </a:xfrm>
          <a:prstGeom prst="rect">
            <a:avLst/>
          </a:prstGeom>
          <a:solidFill>
            <a:srgbClr val="0A1628"/>
          </a:solidFill>
          <a:ln w="12700">
            <a:solidFill>
              <a:srgbClr val="0A1628"/>
            </a:solidFill>
            <a:prstDash val="solid"/>
          </a:ln>
          <a:effectLst>
            <a:outerShdw blurRad="101600" dist="38100" dir="8100000" algn="bl" rotWithShape="0">
              <a:srgbClr val="000000">
                <a:alpha val="18000"/>
              </a:srgbClr>
            </a:outerShdw>
          </a:effectLst>
        </p:spPr>
        <p:txBody>
          <a:bodyPr/>
          <a:lstStyle/>
          <a:p>
            <a:endParaRPr lang="en-US"/>
          </a:p>
        </p:txBody>
      </p:sp>
      <p:sp>
        <p:nvSpPr>
          <p:cNvPr id="24" name="Text 22"/>
          <p:cNvSpPr/>
          <p:nvPr/>
        </p:nvSpPr>
        <p:spPr>
          <a:xfrm>
            <a:off x="7040880" y="4672584"/>
            <a:ext cx="1828800" cy="393192"/>
          </a:xfrm>
          <a:prstGeom prst="rect">
            <a:avLst/>
          </a:prstGeom>
          <a:noFill/>
          <a:ln/>
        </p:spPr>
        <p:txBody>
          <a:bodyPr wrap="square" rtlCol="0" anchor="ctr"/>
          <a:lstStyle/>
          <a:p>
            <a:pPr marL="0" indent="0">
              <a:buNone/>
            </a:pPr>
            <a:r>
              <a:rPr lang="en-US" sz="1000" b="1" dirty="0">
                <a:solidFill>
                  <a:srgbClr val="0EA5E9"/>
                </a:solidFill>
              </a:rPr>
              <a:t>Figma AI  </a:t>
            </a:r>
            <a:r>
              <a:rPr lang="en-US" sz="900" dirty="0">
                <a:solidFill>
                  <a:srgbClr val="94A3B8"/>
                </a:solidFill>
              </a:rPr>
              <a:t>UI prototypes &amp; DB schemas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41732"/>
            <a:ext cx="8229600" cy="502920"/>
          </a:xfrm>
          <a:prstGeom prst="rect">
            <a:avLst/>
          </a:prstGeom>
          <a:noFill/>
          <a:ln/>
        </p:spPr>
        <p:txBody>
          <a:bodyPr wrap="square" rtlCol="0" anchor="ctr"/>
          <a:lstStyle/>
          <a:p>
            <a:pPr marL="0" indent="0">
              <a:buNone/>
            </a:pPr>
            <a:r>
              <a:rPr lang="en-US" sz="2400" b="1" dirty="0">
                <a:solidFill>
                  <a:srgbClr val="1E293B"/>
                </a:solidFill>
              </a:rPr>
              <a:t>Key Challenges &amp; How I Solved Them</a:t>
            </a:r>
            <a:endParaRPr lang="en-US" sz="2400" dirty="0"/>
          </a:p>
        </p:txBody>
      </p:sp>
      <p:sp>
        <p:nvSpPr>
          <p:cNvPr id="3" name="Shape 1"/>
          <p:cNvSpPr/>
          <p:nvPr/>
        </p:nvSpPr>
        <p:spPr>
          <a:xfrm>
            <a:off x="274320" y="777240"/>
            <a:ext cx="8595360" cy="2423160"/>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4" name="Shape 2"/>
          <p:cNvSpPr/>
          <p:nvPr/>
        </p:nvSpPr>
        <p:spPr>
          <a:xfrm>
            <a:off x="274320" y="777240"/>
            <a:ext cx="8595360" cy="54864"/>
          </a:xfrm>
          <a:prstGeom prst="rect">
            <a:avLst/>
          </a:prstGeom>
          <a:solidFill>
            <a:srgbClr val="EF4444"/>
          </a:solidFill>
          <a:ln w="12700">
            <a:solidFill>
              <a:srgbClr val="EF4444"/>
            </a:solidFill>
            <a:prstDash val="solid"/>
          </a:ln>
        </p:spPr>
        <p:txBody>
          <a:bodyPr/>
          <a:lstStyle/>
          <a:p>
            <a:endParaRPr lang="en-US"/>
          </a:p>
        </p:txBody>
      </p:sp>
      <p:sp>
        <p:nvSpPr>
          <p:cNvPr id="5" name="Text 3"/>
          <p:cNvSpPr/>
          <p:nvPr/>
        </p:nvSpPr>
        <p:spPr>
          <a:xfrm>
            <a:off x="411480" y="868680"/>
            <a:ext cx="4572000" cy="347472"/>
          </a:xfrm>
          <a:prstGeom prst="rect">
            <a:avLst/>
          </a:prstGeom>
          <a:noFill/>
          <a:ln/>
        </p:spPr>
        <p:txBody>
          <a:bodyPr wrap="square" rtlCol="0" anchor="ctr"/>
          <a:lstStyle/>
          <a:p>
            <a:pPr marL="0" indent="0">
              <a:buNone/>
            </a:pPr>
            <a:r>
              <a:rPr lang="en-US" sz="1400" b="1" dirty="0">
                <a:solidFill>
                  <a:srgbClr val="EF4444"/>
                </a:solidFill>
              </a:rPr>
              <a:t>🗄️  Database — 3-Stage Evolution</a:t>
            </a:r>
            <a:endParaRPr lang="en-US" sz="1400" dirty="0"/>
          </a:p>
        </p:txBody>
      </p:sp>
      <p:sp>
        <p:nvSpPr>
          <p:cNvPr id="6" name="Shape 4"/>
          <p:cNvSpPr/>
          <p:nvPr/>
        </p:nvSpPr>
        <p:spPr>
          <a:xfrm>
            <a:off x="411480" y="1280160"/>
            <a:ext cx="2697480" cy="1691640"/>
          </a:xfrm>
          <a:prstGeom prst="rect">
            <a:avLst/>
          </a:prstGeom>
          <a:solidFill>
            <a:srgbClr val="FEF2F2"/>
          </a:solidFill>
          <a:ln w="12700">
            <a:solidFill>
              <a:srgbClr val="FECACA"/>
            </a:solidFill>
            <a:prstDash val="solid"/>
          </a:ln>
        </p:spPr>
        <p:txBody>
          <a:bodyPr/>
          <a:lstStyle/>
          <a:p>
            <a:endParaRPr lang="en-US"/>
          </a:p>
        </p:txBody>
      </p:sp>
      <p:sp>
        <p:nvSpPr>
          <p:cNvPr id="7" name="Text 5"/>
          <p:cNvSpPr/>
          <p:nvPr/>
        </p:nvSpPr>
        <p:spPr>
          <a:xfrm>
            <a:off x="502920" y="1335024"/>
            <a:ext cx="2514600" cy="320040"/>
          </a:xfrm>
          <a:prstGeom prst="rect">
            <a:avLst/>
          </a:prstGeom>
          <a:noFill/>
          <a:ln/>
        </p:spPr>
        <p:txBody>
          <a:bodyPr wrap="square" rtlCol="0" anchor="ctr"/>
          <a:lstStyle/>
          <a:p>
            <a:pPr marL="0" indent="0">
              <a:buNone/>
            </a:pPr>
            <a:r>
              <a:rPr lang="en-US" sz="1100" b="1" dirty="0">
                <a:solidFill>
                  <a:srgbClr val="EF4444"/>
                </a:solidFill>
              </a:rPr>
              <a:t>Stage 1 — scan_session + room_scan</a:t>
            </a:r>
            <a:endParaRPr lang="en-US" sz="1100" dirty="0"/>
          </a:p>
        </p:txBody>
      </p:sp>
      <p:sp>
        <p:nvSpPr>
          <p:cNvPr id="8" name="Text 6"/>
          <p:cNvSpPr/>
          <p:nvPr/>
        </p:nvSpPr>
        <p:spPr>
          <a:xfrm>
            <a:off x="502920" y="1673352"/>
            <a:ext cx="2514600" cy="457200"/>
          </a:xfrm>
          <a:prstGeom prst="rect">
            <a:avLst/>
          </a:prstGeom>
          <a:noFill/>
          <a:ln/>
        </p:spPr>
        <p:txBody>
          <a:bodyPr wrap="square"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wifi_scan → room_scan → scan_session → room</a:t>
            </a:r>
            <a:endParaRPr lang="en-US" sz="1000" dirty="0"/>
          </a:p>
        </p:txBody>
      </p:sp>
      <p:sp>
        <p:nvSpPr>
          <p:cNvPr id="9" name="Text 7"/>
          <p:cNvSpPr/>
          <p:nvPr/>
        </p:nvSpPr>
        <p:spPr>
          <a:xfrm>
            <a:off x="502920" y="2167128"/>
            <a:ext cx="2514600" cy="685800"/>
          </a:xfrm>
          <a:prstGeom prst="rect">
            <a:avLst/>
          </a:prstGeom>
          <a:noFill/>
          <a:ln/>
        </p:spPr>
        <p:txBody>
          <a:bodyPr wrap="square" rtlCol="0" anchor="ctr"/>
          <a:lstStyle/>
          <a:p>
            <a:pPr marL="0" indent="0">
              <a:buNone/>
            </a:pPr>
            <a:r>
              <a:rPr lang="en-US" sz="1000" i="1" dirty="0">
                <a:solidFill>
                  <a:srgbClr val="475569"/>
                </a:solidFill>
              </a:rPr>
              <a:t>3 table hops · manual start/stop sessions</a:t>
            </a:r>
            <a:endParaRPr lang="en-US" sz="1000" dirty="0"/>
          </a:p>
        </p:txBody>
      </p:sp>
      <p:sp>
        <p:nvSpPr>
          <p:cNvPr id="10" name="Shape 8"/>
          <p:cNvSpPr/>
          <p:nvPr/>
        </p:nvSpPr>
        <p:spPr>
          <a:xfrm>
            <a:off x="3108960" y="2148840"/>
            <a:ext cx="155448" cy="0"/>
          </a:xfrm>
          <a:prstGeom prst="line">
            <a:avLst/>
          </a:prstGeom>
          <a:noFill/>
          <a:ln w="19050">
            <a:solidFill>
              <a:srgbClr val="475569"/>
            </a:solidFill>
            <a:prstDash val="solid"/>
          </a:ln>
        </p:spPr>
        <p:txBody>
          <a:bodyPr/>
          <a:lstStyle/>
          <a:p>
            <a:endParaRPr lang="en-US"/>
          </a:p>
        </p:txBody>
      </p:sp>
      <p:sp>
        <p:nvSpPr>
          <p:cNvPr id="11" name="Shape 9"/>
          <p:cNvSpPr/>
          <p:nvPr/>
        </p:nvSpPr>
        <p:spPr>
          <a:xfrm>
            <a:off x="3264408" y="1280160"/>
            <a:ext cx="2697480" cy="1691640"/>
          </a:xfrm>
          <a:prstGeom prst="rect">
            <a:avLst/>
          </a:prstGeom>
          <a:solidFill>
            <a:srgbClr val="FFF7ED"/>
          </a:solidFill>
          <a:ln w="12700">
            <a:solidFill>
              <a:srgbClr val="FED7AA"/>
            </a:solidFill>
            <a:prstDash val="solid"/>
          </a:ln>
        </p:spPr>
        <p:txBody>
          <a:bodyPr/>
          <a:lstStyle/>
          <a:p>
            <a:endParaRPr lang="en-US"/>
          </a:p>
        </p:txBody>
      </p:sp>
      <p:sp>
        <p:nvSpPr>
          <p:cNvPr id="12" name="Text 10"/>
          <p:cNvSpPr/>
          <p:nvPr/>
        </p:nvSpPr>
        <p:spPr>
          <a:xfrm>
            <a:off x="3355848" y="1335024"/>
            <a:ext cx="2514600" cy="320040"/>
          </a:xfrm>
          <a:prstGeom prst="rect">
            <a:avLst/>
          </a:prstGeom>
          <a:noFill/>
          <a:ln/>
        </p:spPr>
        <p:txBody>
          <a:bodyPr wrap="square" rtlCol="0" anchor="ctr"/>
          <a:lstStyle/>
          <a:p>
            <a:pPr marL="0" indent="0">
              <a:buNone/>
            </a:pPr>
            <a:r>
              <a:rPr lang="en-US" sz="1100" b="1" dirty="0">
                <a:solidFill>
                  <a:srgbClr val="F59E0B"/>
                </a:solidFill>
              </a:rPr>
              <a:t>Stage 2 — active_room (in-memory)</a:t>
            </a:r>
            <a:endParaRPr lang="en-US" sz="1100" dirty="0"/>
          </a:p>
        </p:txBody>
      </p:sp>
      <p:sp>
        <p:nvSpPr>
          <p:cNvPr id="13" name="Text 11"/>
          <p:cNvSpPr/>
          <p:nvPr/>
        </p:nvSpPr>
        <p:spPr>
          <a:xfrm>
            <a:off x="3355848" y="1673352"/>
            <a:ext cx="2514600" cy="457200"/>
          </a:xfrm>
          <a:prstGeom prst="rect">
            <a:avLst/>
          </a:prstGeom>
          <a:noFill/>
          <a:ln/>
        </p:spPr>
        <p:txBody>
          <a:bodyPr wrap="square"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active_room_id variable → stamp room_id on /ingest</a:t>
            </a:r>
            <a:endParaRPr lang="en-US" sz="1000" dirty="0"/>
          </a:p>
        </p:txBody>
      </p:sp>
      <p:sp>
        <p:nvSpPr>
          <p:cNvPr id="14" name="Text 12"/>
          <p:cNvSpPr/>
          <p:nvPr/>
        </p:nvSpPr>
        <p:spPr>
          <a:xfrm>
            <a:off x="3355848" y="2167128"/>
            <a:ext cx="2514600" cy="685800"/>
          </a:xfrm>
          <a:prstGeom prst="rect">
            <a:avLst/>
          </a:prstGeom>
          <a:noFill/>
          <a:ln/>
        </p:spPr>
        <p:txBody>
          <a:bodyPr wrap="square" rtlCol="0" anchor="ctr"/>
          <a:lstStyle/>
          <a:p>
            <a:pPr marL="0" indent="0">
              <a:buNone/>
            </a:pPr>
            <a:r>
              <a:rPr lang="en-US" sz="1000" i="1" dirty="0">
                <a:solidFill>
                  <a:srgbClr val="475569"/>
                </a:solidFill>
              </a:rPr>
              <a:t>2-table query · no sessions · one API call</a:t>
            </a:r>
            <a:endParaRPr lang="en-US" sz="1000" dirty="0"/>
          </a:p>
        </p:txBody>
      </p:sp>
      <p:sp>
        <p:nvSpPr>
          <p:cNvPr id="15" name="Shape 13"/>
          <p:cNvSpPr/>
          <p:nvPr/>
        </p:nvSpPr>
        <p:spPr>
          <a:xfrm>
            <a:off x="5961888" y="2148840"/>
            <a:ext cx="155448" cy="0"/>
          </a:xfrm>
          <a:prstGeom prst="line">
            <a:avLst/>
          </a:prstGeom>
          <a:noFill/>
          <a:ln w="19050">
            <a:solidFill>
              <a:srgbClr val="475569"/>
            </a:solidFill>
            <a:prstDash val="solid"/>
          </a:ln>
        </p:spPr>
        <p:txBody>
          <a:bodyPr/>
          <a:lstStyle/>
          <a:p>
            <a:endParaRPr lang="en-US"/>
          </a:p>
        </p:txBody>
      </p:sp>
      <p:sp>
        <p:nvSpPr>
          <p:cNvPr id="16" name="Shape 14"/>
          <p:cNvSpPr/>
          <p:nvPr/>
        </p:nvSpPr>
        <p:spPr>
          <a:xfrm>
            <a:off x="6117336" y="1280160"/>
            <a:ext cx="2697480" cy="1691640"/>
          </a:xfrm>
          <a:prstGeom prst="rect">
            <a:avLst/>
          </a:prstGeom>
          <a:solidFill>
            <a:srgbClr val="F0FDF4"/>
          </a:solidFill>
          <a:ln w="12700">
            <a:solidFill>
              <a:srgbClr val="86EFAC"/>
            </a:solidFill>
            <a:prstDash val="solid"/>
          </a:ln>
        </p:spPr>
        <p:txBody>
          <a:bodyPr/>
          <a:lstStyle/>
          <a:p>
            <a:endParaRPr lang="en-US"/>
          </a:p>
        </p:txBody>
      </p:sp>
      <p:sp>
        <p:nvSpPr>
          <p:cNvPr id="17" name="Text 15"/>
          <p:cNvSpPr/>
          <p:nvPr/>
        </p:nvSpPr>
        <p:spPr>
          <a:xfrm>
            <a:off x="6208776" y="1335024"/>
            <a:ext cx="2514600" cy="320040"/>
          </a:xfrm>
          <a:prstGeom prst="rect">
            <a:avLst/>
          </a:prstGeom>
          <a:noFill/>
          <a:ln/>
        </p:spPr>
        <p:txBody>
          <a:bodyPr wrap="square" rtlCol="0" anchor="ctr"/>
          <a:lstStyle/>
          <a:p>
            <a:pPr marL="0" indent="0">
              <a:buNone/>
            </a:pPr>
            <a:r>
              <a:rPr lang="en-US" sz="1100" b="1" dirty="0">
                <a:solidFill>
                  <a:srgbClr val="10B981"/>
                </a:solidFill>
              </a:rPr>
              <a:t>Stage 3 — scan_point (current)</a:t>
            </a:r>
            <a:endParaRPr lang="en-US" sz="1100" dirty="0"/>
          </a:p>
        </p:txBody>
      </p:sp>
      <p:sp>
        <p:nvSpPr>
          <p:cNvPr id="18" name="Text 16"/>
          <p:cNvSpPr/>
          <p:nvPr/>
        </p:nvSpPr>
        <p:spPr>
          <a:xfrm>
            <a:off x="6208776" y="1673352"/>
            <a:ext cx="2514600" cy="457200"/>
          </a:xfrm>
          <a:prstGeom prst="rect">
            <a:avLst/>
          </a:prstGeom>
          <a:noFill/>
          <a:ln/>
        </p:spPr>
        <p:txBody>
          <a:bodyPr wrap="square" rtlCol="0" anchor="ctr"/>
          <a:lstStyle/>
          <a:p>
            <a:pPr marL="0" indent="0">
              <a:buNone/>
            </a:pPr>
            <a:r>
              <a:rPr lang="en-US" sz="1000" dirty="0">
                <a:solidFill>
                  <a:srgbClr val="1E293B"/>
                </a:solidFill>
                <a:latin typeface="Consolas" pitchFamily="34" charset="0"/>
                <a:ea typeface="Consolas" pitchFamily="34" charset="-122"/>
                <a:cs typeface="Consolas" pitchFamily="34" charset="-120"/>
              </a:rPr>
              <a:t>scan_point (x,y on map) → all sensors attach via scan_point_id</a:t>
            </a:r>
            <a:endParaRPr lang="en-US" sz="1000" dirty="0"/>
          </a:p>
        </p:txBody>
      </p:sp>
      <p:sp>
        <p:nvSpPr>
          <p:cNvPr id="19" name="Text 17"/>
          <p:cNvSpPr/>
          <p:nvPr/>
        </p:nvSpPr>
        <p:spPr>
          <a:xfrm>
            <a:off x="6208776" y="2167128"/>
            <a:ext cx="2514600" cy="685800"/>
          </a:xfrm>
          <a:prstGeom prst="rect">
            <a:avLst/>
          </a:prstGeom>
          <a:noFill/>
          <a:ln/>
        </p:spPr>
        <p:txBody>
          <a:bodyPr wrap="square" rtlCol="0" anchor="ctr"/>
          <a:lstStyle/>
          <a:p>
            <a:pPr marL="0" indent="0">
              <a:buNone/>
            </a:pPr>
            <a:r>
              <a:rPr lang="en-US" sz="1000" i="1" dirty="0">
                <a:solidFill>
                  <a:srgbClr val="475569"/>
                </a:solidFill>
              </a:rPr>
              <a:t>Sub-room precision · extensible to any sensor</a:t>
            </a:r>
            <a:endParaRPr lang="en-US" sz="1000" dirty="0"/>
          </a:p>
        </p:txBody>
      </p:sp>
      <p:sp>
        <p:nvSpPr>
          <p:cNvPr id="20" name="Shape 18"/>
          <p:cNvSpPr/>
          <p:nvPr/>
        </p:nvSpPr>
        <p:spPr>
          <a:xfrm>
            <a:off x="274320" y="3337560"/>
            <a:ext cx="8595360" cy="1664208"/>
          </a:xfrm>
          <a:prstGeom prst="rect">
            <a:avLst/>
          </a:prstGeom>
          <a:solidFill>
            <a:srgbClr val="FFFFFF"/>
          </a:solidFill>
          <a:ln w="12700">
            <a:solidFill>
              <a:srgbClr val="E2E8F0"/>
            </a:solidFill>
            <a:prstDash val="solid"/>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274320" y="3337560"/>
            <a:ext cx="8595360" cy="54864"/>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411480" y="3438144"/>
            <a:ext cx="5486400" cy="347472"/>
          </a:xfrm>
          <a:prstGeom prst="rect">
            <a:avLst/>
          </a:prstGeom>
          <a:noFill/>
          <a:ln/>
        </p:spPr>
        <p:txBody>
          <a:bodyPr wrap="square" rtlCol="0" anchor="ctr"/>
          <a:lstStyle/>
          <a:p>
            <a:pPr marL="0" indent="0">
              <a:buNone/>
            </a:pPr>
            <a:r>
              <a:rPr lang="en-US" sz="1400" b="1" dirty="0">
                <a:solidFill>
                  <a:srgbClr val="F59E0B"/>
                </a:solidFill>
              </a:rPr>
              <a:t>☁️  Cloud Deployment — AWS Amplify → Vercel + EC2</a:t>
            </a:r>
            <a:endParaRPr lang="en-US" sz="1400" dirty="0"/>
          </a:p>
        </p:txBody>
      </p:sp>
      <p:sp>
        <p:nvSpPr>
          <p:cNvPr id="23" name="Shape 21"/>
          <p:cNvSpPr/>
          <p:nvPr/>
        </p:nvSpPr>
        <p:spPr>
          <a:xfrm>
            <a:off x="411480" y="3858768"/>
            <a:ext cx="3657600" cy="1005840"/>
          </a:xfrm>
          <a:prstGeom prst="rect">
            <a:avLst/>
          </a:prstGeom>
          <a:solidFill>
            <a:srgbClr val="FEF2F2"/>
          </a:solidFill>
          <a:ln w="12700">
            <a:solidFill>
              <a:srgbClr val="FECACA"/>
            </a:solidFill>
            <a:prstDash val="solid"/>
          </a:ln>
        </p:spPr>
        <p:txBody>
          <a:bodyPr/>
          <a:lstStyle/>
          <a:p>
            <a:endParaRPr lang="en-US"/>
          </a:p>
        </p:txBody>
      </p:sp>
      <p:sp>
        <p:nvSpPr>
          <p:cNvPr id="24" name="Text 22"/>
          <p:cNvSpPr/>
          <p:nvPr/>
        </p:nvSpPr>
        <p:spPr>
          <a:xfrm>
            <a:off x="502920" y="3913632"/>
            <a:ext cx="3474720" cy="274320"/>
          </a:xfrm>
          <a:prstGeom prst="rect">
            <a:avLst/>
          </a:prstGeom>
          <a:noFill/>
          <a:ln/>
        </p:spPr>
        <p:txBody>
          <a:bodyPr wrap="square" rtlCol="0" anchor="ctr"/>
          <a:lstStyle/>
          <a:p>
            <a:pPr marL="0" indent="0">
              <a:buNone/>
            </a:pPr>
            <a:r>
              <a:rPr lang="en-US" sz="1100" b="1" dirty="0">
                <a:solidFill>
                  <a:srgbClr val="EF4444"/>
                </a:solidFill>
              </a:rPr>
              <a:t>BEFORE — AWS Amplify</a:t>
            </a:r>
            <a:endParaRPr lang="en-US" sz="1100" dirty="0"/>
          </a:p>
        </p:txBody>
      </p:sp>
      <p:sp>
        <p:nvSpPr>
          <p:cNvPr id="25" name="Text 23"/>
          <p:cNvSpPr/>
          <p:nvPr/>
        </p:nvSpPr>
        <p:spPr>
          <a:xfrm>
            <a:off x="502920" y="4187952"/>
            <a:ext cx="3383280" cy="640080"/>
          </a:xfrm>
          <a:prstGeom prst="rect">
            <a:avLst/>
          </a:prstGeom>
          <a:noFill/>
          <a:ln/>
        </p:spPr>
        <p:txBody>
          <a:bodyPr wrap="square" rtlCol="0" anchor="ctr"/>
          <a:lstStyle/>
          <a:p>
            <a:pPr marL="342900" indent="-342900">
              <a:buSzPct val="100000"/>
              <a:buChar char="•"/>
            </a:pPr>
            <a:r>
              <a:rPr lang="en-US" sz="1050" dirty="0">
                <a:solidFill>
                  <a:srgbClr val="EF4444"/>
                </a:solidFill>
              </a:rPr>
              <a:t>Build failures — Next.js version conflicts</a:t>
            </a:r>
            <a:endParaRPr lang="en-US" sz="1050" dirty="0"/>
          </a:p>
          <a:p>
            <a:pPr marL="342900" indent="-342900">
              <a:buSzPct val="100000"/>
              <a:buChar char="•"/>
            </a:pPr>
            <a:r>
              <a:rPr lang="en-US" sz="1050" dirty="0">
                <a:solidFill>
                  <a:srgbClr val="EF4444"/>
                </a:solidFill>
              </a:rPr>
              <a:t>No control over env config · tightly coupled</a:t>
            </a:r>
            <a:endParaRPr lang="en-US" sz="1050" dirty="0"/>
          </a:p>
        </p:txBody>
      </p:sp>
      <p:sp>
        <p:nvSpPr>
          <p:cNvPr id="26" name="Shape 24"/>
          <p:cNvSpPr/>
          <p:nvPr/>
        </p:nvSpPr>
        <p:spPr>
          <a:xfrm>
            <a:off x="4709160" y="3858768"/>
            <a:ext cx="4114800" cy="1005840"/>
          </a:xfrm>
          <a:prstGeom prst="rect">
            <a:avLst/>
          </a:prstGeom>
          <a:solidFill>
            <a:srgbClr val="F0FDF4"/>
          </a:solidFill>
          <a:ln w="12700">
            <a:solidFill>
              <a:srgbClr val="86EFAC"/>
            </a:solidFill>
            <a:prstDash val="solid"/>
          </a:ln>
        </p:spPr>
        <p:txBody>
          <a:bodyPr/>
          <a:lstStyle/>
          <a:p>
            <a:endParaRPr lang="en-US"/>
          </a:p>
        </p:txBody>
      </p:sp>
      <p:sp>
        <p:nvSpPr>
          <p:cNvPr id="27" name="Text 25"/>
          <p:cNvSpPr/>
          <p:nvPr/>
        </p:nvSpPr>
        <p:spPr>
          <a:xfrm>
            <a:off x="4800600" y="3913632"/>
            <a:ext cx="3840480" cy="274320"/>
          </a:xfrm>
          <a:prstGeom prst="rect">
            <a:avLst/>
          </a:prstGeom>
          <a:noFill/>
          <a:ln/>
        </p:spPr>
        <p:txBody>
          <a:bodyPr wrap="square" rtlCol="0" anchor="ctr"/>
          <a:lstStyle/>
          <a:p>
            <a:pPr marL="0" indent="0">
              <a:buNone/>
            </a:pPr>
            <a:r>
              <a:rPr lang="en-US" sz="1100" b="1" dirty="0">
                <a:solidFill>
                  <a:srgbClr val="10B981"/>
                </a:solidFill>
              </a:rPr>
              <a:t>AFTER — Vercel + AWS EC2 + DuckDNS</a:t>
            </a:r>
            <a:endParaRPr lang="en-US" sz="1100" dirty="0"/>
          </a:p>
        </p:txBody>
      </p:sp>
      <p:sp>
        <p:nvSpPr>
          <p:cNvPr id="28" name="Text 26"/>
          <p:cNvSpPr/>
          <p:nvPr/>
        </p:nvSpPr>
        <p:spPr>
          <a:xfrm>
            <a:off x="4800600" y="4187952"/>
            <a:ext cx="3931920" cy="640080"/>
          </a:xfrm>
          <a:prstGeom prst="rect">
            <a:avLst/>
          </a:prstGeom>
          <a:noFill/>
          <a:ln/>
        </p:spPr>
        <p:txBody>
          <a:bodyPr wrap="square" rtlCol="0" anchor="ctr"/>
          <a:lstStyle/>
          <a:p>
            <a:pPr marL="342900" indent="-342900">
              <a:buSzPct val="100000"/>
              <a:buChar char="•"/>
            </a:pPr>
            <a:r>
              <a:rPr lang="en-US" sz="1050" dirty="0">
                <a:solidFill>
                  <a:srgbClr val="10B981"/>
                </a:solidFill>
              </a:rPr>
              <a:t>Frontend → Vercel · Backend → EC2 + Nginx + systemd</a:t>
            </a:r>
            <a:endParaRPr lang="en-US" sz="1050" dirty="0"/>
          </a:p>
          <a:p>
            <a:pPr marL="342900" indent="-342900">
              <a:buSzPct val="100000"/>
              <a:buChar char="•"/>
            </a:pPr>
            <a:r>
              <a:rPr lang="en-US" sz="1050" dirty="0">
                <a:solidFill>
                  <a:srgbClr val="10B981"/>
                </a:solidFill>
              </a:rPr>
              <a:t>DuckDNS + Let's Encrypt → free HTTPS custom domain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F1032"/>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rtlCol="0" anchor="ctr"/>
          <a:lstStyle/>
          <a:p>
            <a:pPr marL="0" indent="0">
              <a:buNone/>
            </a:pPr>
            <a:r>
              <a:rPr lang="en-US" sz="3000" b="1" dirty="0">
                <a:solidFill>
                  <a:srgbClr val="FFFFFF"/>
                </a:solidFill>
              </a:rPr>
              <a:t>Testing Strategy</a:t>
            </a:r>
            <a:endParaRPr lang="en-US" sz="3000" dirty="0"/>
          </a:p>
        </p:txBody>
      </p:sp>
      <p:sp>
        <p:nvSpPr>
          <p:cNvPr id="3" name="Text 1"/>
          <p:cNvSpPr/>
          <p:nvPr/>
        </p:nvSpPr>
        <p:spPr>
          <a:xfrm>
            <a:off x="457200" y="777240"/>
            <a:ext cx="8229600" cy="320040"/>
          </a:xfrm>
          <a:prstGeom prst="rect">
            <a:avLst/>
          </a:prstGeom>
          <a:noFill/>
          <a:ln/>
        </p:spPr>
        <p:txBody>
          <a:bodyPr wrap="square" rtlCol="0" anchor="ctr"/>
          <a:lstStyle/>
          <a:p>
            <a:pPr marL="0" indent="0">
              <a:buNone/>
            </a:pPr>
            <a:r>
              <a:rPr lang="en-US" sz="1300" i="1" dirty="0">
                <a:solidFill>
                  <a:srgbClr val="94A3B8"/>
                </a:solidFill>
              </a:rPr>
              <a:t>Four layers of testing to validate correctness, behaviour, and usability</a:t>
            </a:r>
            <a:endParaRPr lang="en-US" sz="1300" dirty="0"/>
          </a:p>
        </p:txBody>
      </p:sp>
      <p:sp>
        <p:nvSpPr>
          <p:cNvPr id="4" name="Shape 2"/>
          <p:cNvSpPr/>
          <p:nvPr/>
        </p:nvSpPr>
        <p:spPr>
          <a:xfrm>
            <a:off x="365760" y="1261872"/>
            <a:ext cx="4114800" cy="1664208"/>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365760" y="1261872"/>
            <a:ext cx="64008" cy="1664208"/>
          </a:xfrm>
          <a:prstGeom prst="rect">
            <a:avLst/>
          </a:prstGeom>
          <a:solidFill>
            <a:srgbClr val="10B981"/>
          </a:solidFill>
          <a:ln w="12700">
            <a:solidFill>
              <a:srgbClr val="10B981"/>
            </a:solidFill>
            <a:prstDash val="solid"/>
          </a:ln>
        </p:spPr>
        <p:txBody>
          <a:bodyPr/>
          <a:lstStyle/>
          <a:p>
            <a:endParaRPr lang="en-US"/>
          </a:p>
        </p:txBody>
      </p:sp>
      <p:sp>
        <p:nvSpPr>
          <p:cNvPr id="6" name="Text 4"/>
          <p:cNvSpPr/>
          <p:nvPr/>
        </p:nvSpPr>
        <p:spPr>
          <a:xfrm>
            <a:off x="530352" y="1353312"/>
            <a:ext cx="3200400" cy="347472"/>
          </a:xfrm>
          <a:prstGeom prst="rect">
            <a:avLst/>
          </a:prstGeom>
          <a:noFill/>
          <a:ln/>
        </p:spPr>
        <p:txBody>
          <a:bodyPr wrap="square" rtlCol="0" anchor="ctr"/>
          <a:lstStyle/>
          <a:p>
            <a:pPr marL="0" indent="0">
              <a:buNone/>
            </a:pPr>
            <a:r>
              <a:rPr lang="en-US" sz="1400" b="1" dirty="0">
                <a:solidFill>
                  <a:srgbClr val="10B981"/>
                </a:solidFill>
              </a:rPr>
              <a:t>🧪  Unit Tests</a:t>
            </a:r>
            <a:endParaRPr lang="en-US" sz="1400" dirty="0"/>
          </a:p>
        </p:txBody>
      </p:sp>
      <p:sp>
        <p:nvSpPr>
          <p:cNvPr id="7" name="Text 5"/>
          <p:cNvSpPr/>
          <p:nvPr/>
        </p:nvSpPr>
        <p:spPr>
          <a:xfrm>
            <a:off x="530352" y="1682496"/>
            <a:ext cx="3200400" cy="228600"/>
          </a:xfrm>
          <a:prstGeom prst="rect">
            <a:avLst/>
          </a:prstGeom>
          <a:noFill/>
          <a:ln/>
        </p:spPr>
        <p:txBody>
          <a:bodyPr wrap="square" rtlCol="0" anchor="ctr"/>
          <a:lstStyle/>
          <a:p>
            <a:pPr marL="0" indent="0">
              <a:buNone/>
            </a:pPr>
            <a:r>
              <a:rPr lang="en-US" sz="1000" i="1" dirty="0">
                <a:solidFill>
                  <a:srgbClr val="94A3B8"/>
                </a:solidFill>
              </a:rPr>
              <a:t>Tool: pytest</a:t>
            </a:r>
            <a:endParaRPr lang="en-US" sz="1000" dirty="0"/>
          </a:p>
        </p:txBody>
      </p:sp>
      <p:sp>
        <p:nvSpPr>
          <p:cNvPr id="8" name="Text 6"/>
          <p:cNvSpPr/>
          <p:nvPr/>
        </p:nvSpPr>
        <p:spPr>
          <a:xfrm>
            <a:off x="530352" y="1920240"/>
            <a:ext cx="3840480" cy="914400"/>
          </a:xfrm>
          <a:prstGeom prst="rect">
            <a:avLst/>
          </a:prstGeom>
          <a:noFill/>
          <a:ln/>
        </p:spPr>
        <p:txBody>
          <a:bodyPr wrap="square" rtlCol="0" anchor="ctr"/>
          <a:lstStyle/>
          <a:p>
            <a:pPr marL="0" indent="0">
              <a:buNone/>
            </a:pPr>
            <a:r>
              <a:rPr lang="en-US" sz="1050" dirty="0">
                <a:solidFill>
                  <a:srgbClr val="94A3B8"/>
                </a:solidFill>
              </a:rPr>
              <a:t>Tested individual FastAPI route handlers and database functions in isolation. Verified CRUD operations for buildings, rooms, and scans with mock sessions. Ensured edge cases (missing data, duplicates) returned correct HTTP status codes.</a:t>
            </a:r>
            <a:endParaRPr lang="en-US" sz="1050" dirty="0"/>
          </a:p>
        </p:txBody>
      </p:sp>
      <p:sp>
        <p:nvSpPr>
          <p:cNvPr id="9" name="Shape 7"/>
          <p:cNvSpPr/>
          <p:nvPr/>
        </p:nvSpPr>
        <p:spPr>
          <a:xfrm>
            <a:off x="4800600" y="1261872"/>
            <a:ext cx="4114800" cy="1664208"/>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4800600" y="1261872"/>
            <a:ext cx="64008" cy="1664208"/>
          </a:xfrm>
          <a:prstGeom prst="rect">
            <a:avLst/>
          </a:prstGeom>
          <a:solidFill>
            <a:srgbClr val="0EA5E9"/>
          </a:solidFill>
          <a:ln w="12700">
            <a:solidFill>
              <a:srgbClr val="0EA5E9"/>
            </a:solidFill>
            <a:prstDash val="solid"/>
          </a:ln>
        </p:spPr>
        <p:txBody>
          <a:bodyPr/>
          <a:lstStyle/>
          <a:p>
            <a:endParaRPr lang="en-US"/>
          </a:p>
        </p:txBody>
      </p:sp>
      <p:sp>
        <p:nvSpPr>
          <p:cNvPr id="11" name="Text 9"/>
          <p:cNvSpPr/>
          <p:nvPr/>
        </p:nvSpPr>
        <p:spPr>
          <a:xfrm>
            <a:off x="4965192" y="1353312"/>
            <a:ext cx="3200400" cy="347472"/>
          </a:xfrm>
          <a:prstGeom prst="rect">
            <a:avLst/>
          </a:prstGeom>
          <a:noFill/>
          <a:ln/>
        </p:spPr>
        <p:txBody>
          <a:bodyPr wrap="square" rtlCol="0" anchor="ctr"/>
          <a:lstStyle/>
          <a:p>
            <a:pPr marL="0" indent="0">
              <a:buNone/>
            </a:pPr>
            <a:r>
              <a:rPr lang="en-US" sz="1400" b="1" dirty="0">
                <a:solidFill>
                  <a:srgbClr val="0EA5E9"/>
                </a:solidFill>
              </a:rPr>
              <a:t>🎭  End-to-End Tests</a:t>
            </a:r>
            <a:endParaRPr lang="en-US" sz="1400" dirty="0"/>
          </a:p>
        </p:txBody>
      </p:sp>
      <p:sp>
        <p:nvSpPr>
          <p:cNvPr id="12" name="Text 10"/>
          <p:cNvSpPr/>
          <p:nvPr/>
        </p:nvSpPr>
        <p:spPr>
          <a:xfrm>
            <a:off x="4965192" y="1682496"/>
            <a:ext cx="3200400" cy="228600"/>
          </a:xfrm>
          <a:prstGeom prst="rect">
            <a:avLst/>
          </a:prstGeom>
          <a:noFill/>
          <a:ln/>
        </p:spPr>
        <p:txBody>
          <a:bodyPr wrap="square" rtlCol="0" anchor="ctr"/>
          <a:lstStyle/>
          <a:p>
            <a:pPr marL="0" indent="0">
              <a:buNone/>
            </a:pPr>
            <a:r>
              <a:rPr lang="en-US" sz="1000" i="1" dirty="0">
                <a:solidFill>
                  <a:srgbClr val="94A3B8"/>
                </a:solidFill>
              </a:rPr>
              <a:t>Tool: Playwright</a:t>
            </a:r>
            <a:endParaRPr lang="en-US" sz="1000" dirty="0"/>
          </a:p>
        </p:txBody>
      </p:sp>
      <p:sp>
        <p:nvSpPr>
          <p:cNvPr id="13" name="Text 11"/>
          <p:cNvSpPr/>
          <p:nvPr/>
        </p:nvSpPr>
        <p:spPr>
          <a:xfrm>
            <a:off x="4965192" y="1920240"/>
            <a:ext cx="3840480" cy="914400"/>
          </a:xfrm>
          <a:prstGeom prst="rect">
            <a:avLst/>
          </a:prstGeom>
          <a:noFill/>
          <a:ln/>
        </p:spPr>
        <p:txBody>
          <a:bodyPr wrap="square" rtlCol="0" anchor="ctr"/>
          <a:lstStyle/>
          <a:p>
            <a:pPr marL="0" indent="0">
              <a:buNone/>
            </a:pPr>
            <a:r>
              <a:rPr lang="en-US" sz="1050" dirty="0">
                <a:solidFill>
                  <a:srgbClr val="94A3B8"/>
                </a:solidFill>
              </a:rPr>
              <a:t>Simulated real user flows through the browser — logging in, navigating to a building, viewing rooms, and triggering scan start/stop. Verified the full stack from frontend click to database write.</a:t>
            </a:r>
            <a:endParaRPr lang="en-US" sz="1050" dirty="0"/>
          </a:p>
        </p:txBody>
      </p:sp>
      <p:sp>
        <p:nvSpPr>
          <p:cNvPr id="14" name="Shape 12"/>
          <p:cNvSpPr/>
          <p:nvPr/>
        </p:nvSpPr>
        <p:spPr>
          <a:xfrm>
            <a:off x="365760" y="3090672"/>
            <a:ext cx="4114800" cy="1664208"/>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365760" y="3090672"/>
            <a:ext cx="64008" cy="1664208"/>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530352" y="3182112"/>
            <a:ext cx="3200400" cy="347472"/>
          </a:xfrm>
          <a:prstGeom prst="rect">
            <a:avLst/>
          </a:prstGeom>
          <a:noFill/>
          <a:ln/>
        </p:spPr>
        <p:txBody>
          <a:bodyPr wrap="square" rtlCol="0" anchor="ctr"/>
          <a:lstStyle/>
          <a:p>
            <a:pPr marL="0" indent="0">
              <a:buNone/>
            </a:pPr>
            <a:r>
              <a:rPr lang="en-US" sz="1400" b="1" dirty="0">
                <a:solidFill>
                  <a:srgbClr val="F59E0B"/>
                </a:solidFill>
              </a:rPr>
              <a:t>⚙️  UI / Component Tests</a:t>
            </a:r>
            <a:endParaRPr lang="en-US" sz="1400" dirty="0"/>
          </a:p>
        </p:txBody>
      </p:sp>
      <p:sp>
        <p:nvSpPr>
          <p:cNvPr id="17" name="Text 15"/>
          <p:cNvSpPr/>
          <p:nvPr/>
        </p:nvSpPr>
        <p:spPr>
          <a:xfrm>
            <a:off x="530352" y="3511296"/>
            <a:ext cx="3200400" cy="228600"/>
          </a:xfrm>
          <a:prstGeom prst="rect">
            <a:avLst/>
          </a:prstGeom>
          <a:noFill/>
          <a:ln/>
        </p:spPr>
        <p:txBody>
          <a:bodyPr wrap="square" rtlCol="0" anchor="ctr"/>
          <a:lstStyle/>
          <a:p>
            <a:pPr marL="0" indent="0">
              <a:buNone/>
            </a:pPr>
            <a:r>
              <a:rPr lang="en-US" sz="1000" i="1" dirty="0">
                <a:solidFill>
                  <a:srgbClr val="94A3B8"/>
                </a:solidFill>
              </a:rPr>
              <a:t>Tool: Jest</a:t>
            </a:r>
            <a:endParaRPr lang="en-US" sz="1000" dirty="0"/>
          </a:p>
        </p:txBody>
      </p:sp>
      <p:sp>
        <p:nvSpPr>
          <p:cNvPr id="18" name="Text 16"/>
          <p:cNvSpPr/>
          <p:nvPr/>
        </p:nvSpPr>
        <p:spPr>
          <a:xfrm>
            <a:off x="530352" y="3749040"/>
            <a:ext cx="3840480" cy="914400"/>
          </a:xfrm>
          <a:prstGeom prst="rect">
            <a:avLst/>
          </a:prstGeom>
          <a:noFill/>
          <a:ln/>
        </p:spPr>
        <p:txBody>
          <a:bodyPr wrap="square" rtlCol="0" anchor="ctr"/>
          <a:lstStyle/>
          <a:p>
            <a:pPr marL="0" indent="0">
              <a:buNone/>
            </a:pPr>
            <a:r>
              <a:rPr lang="en-US" sz="1050" dirty="0">
                <a:solidFill>
                  <a:srgbClr val="94A3B8"/>
                </a:solidFill>
              </a:rPr>
              <a:t>Tested React components in isolation using Jest. Verified that UI elements render correctly with given props, that loading/error states are handled, and that buttons trigger the right callbacks.</a:t>
            </a:r>
            <a:endParaRPr lang="en-US" sz="1050" dirty="0"/>
          </a:p>
        </p:txBody>
      </p:sp>
      <p:sp>
        <p:nvSpPr>
          <p:cNvPr id="19" name="Shape 17"/>
          <p:cNvSpPr/>
          <p:nvPr/>
        </p:nvSpPr>
        <p:spPr>
          <a:xfrm>
            <a:off x="4800600" y="3090672"/>
            <a:ext cx="4114800" cy="1664208"/>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20" name="Shape 18"/>
          <p:cNvSpPr/>
          <p:nvPr/>
        </p:nvSpPr>
        <p:spPr>
          <a:xfrm>
            <a:off x="4800600" y="3090672"/>
            <a:ext cx="64008" cy="1664208"/>
          </a:xfrm>
          <a:prstGeom prst="rect">
            <a:avLst/>
          </a:prstGeom>
          <a:solidFill>
            <a:srgbClr val="EF4444"/>
          </a:solidFill>
          <a:ln w="12700">
            <a:solidFill>
              <a:srgbClr val="EF4444"/>
            </a:solidFill>
            <a:prstDash val="solid"/>
          </a:ln>
        </p:spPr>
        <p:txBody>
          <a:bodyPr/>
          <a:lstStyle/>
          <a:p>
            <a:endParaRPr lang="en-US"/>
          </a:p>
        </p:txBody>
      </p:sp>
      <p:sp>
        <p:nvSpPr>
          <p:cNvPr id="21" name="Text 19"/>
          <p:cNvSpPr/>
          <p:nvPr/>
        </p:nvSpPr>
        <p:spPr>
          <a:xfrm>
            <a:off x="4965192" y="3182112"/>
            <a:ext cx="3200400" cy="347472"/>
          </a:xfrm>
          <a:prstGeom prst="rect">
            <a:avLst/>
          </a:prstGeom>
          <a:noFill/>
          <a:ln/>
        </p:spPr>
        <p:txBody>
          <a:bodyPr wrap="square" rtlCol="0" anchor="ctr"/>
          <a:lstStyle/>
          <a:p>
            <a:pPr marL="0" indent="0">
              <a:buNone/>
            </a:pPr>
            <a:r>
              <a:rPr lang="en-US" sz="1400" b="1" dirty="0">
                <a:solidFill>
                  <a:srgbClr val="EF4444"/>
                </a:solidFill>
              </a:rPr>
              <a:t>👤  Manual Tests</a:t>
            </a:r>
            <a:endParaRPr lang="en-US" sz="1400" dirty="0"/>
          </a:p>
        </p:txBody>
      </p:sp>
      <p:sp>
        <p:nvSpPr>
          <p:cNvPr id="22" name="Text 20"/>
          <p:cNvSpPr/>
          <p:nvPr/>
        </p:nvSpPr>
        <p:spPr>
          <a:xfrm>
            <a:off x="4965192" y="3511296"/>
            <a:ext cx="3200400" cy="228600"/>
          </a:xfrm>
          <a:prstGeom prst="rect">
            <a:avLst/>
          </a:prstGeom>
          <a:noFill/>
          <a:ln/>
        </p:spPr>
        <p:txBody>
          <a:bodyPr wrap="square" rtlCol="0" anchor="ctr"/>
          <a:lstStyle/>
          <a:p>
            <a:pPr marL="0" indent="0">
              <a:buNone/>
            </a:pPr>
            <a:r>
              <a:rPr lang="en-US" sz="1000" i="1" dirty="0">
                <a:solidFill>
                  <a:srgbClr val="94A3B8"/>
                </a:solidFill>
              </a:rPr>
              <a:t>Tool: Live system</a:t>
            </a:r>
            <a:endParaRPr lang="en-US" sz="1000" dirty="0"/>
          </a:p>
        </p:txBody>
      </p:sp>
      <p:sp>
        <p:nvSpPr>
          <p:cNvPr id="23" name="Text 21"/>
          <p:cNvSpPr/>
          <p:nvPr/>
        </p:nvSpPr>
        <p:spPr>
          <a:xfrm>
            <a:off x="4965192" y="3749040"/>
            <a:ext cx="3840480" cy="914400"/>
          </a:xfrm>
          <a:prstGeom prst="rect">
            <a:avLst/>
          </a:prstGeom>
          <a:noFill/>
          <a:ln/>
        </p:spPr>
        <p:txBody>
          <a:bodyPr wrap="square" rtlCol="0" anchor="ctr"/>
          <a:lstStyle/>
          <a:p>
            <a:pPr marL="0" indent="0">
              <a:buNone/>
            </a:pPr>
            <a:r>
              <a:rPr lang="en-US" sz="1050" dirty="0">
                <a:solidFill>
                  <a:srgbClr val="94A3B8"/>
                </a:solidFill>
              </a:rPr>
              <a:t>Hands-on testing of the full system with a real ESP32 device. Verified that scans appeared in the correct room, the heatmap updated in real time, and the admin controls responded as expected.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09728"/>
            <a:ext cx="8229600" cy="438912"/>
          </a:xfrm>
          <a:prstGeom prst="rect">
            <a:avLst/>
          </a:prstGeom>
          <a:noFill/>
          <a:ln/>
        </p:spPr>
        <p:txBody>
          <a:bodyPr wrap="square" rtlCol="0" anchor="ctr"/>
          <a:lstStyle/>
          <a:p>
            <a:pPr marL="0" indent="0">
              <a:buNone/>
            </a:pPr>
            <a:r>
              <a:rPr lang="en-US" sz="2200" b="1" dirty="0">
                <a:solidFill>
                  <a:srgbClr val="1E293B"/>
                </a:solidFill>
              </a:rPr>
              <a:t>System Flow  —  How Data Moves</a:t>
            </a:r>
            <a:endParaRPr lang="en-US" sz="2200" dirty="0"/>
          </a:p>
        </p:txBody>
      </p:sp>
      <p:sp>
        <p:nvSpPr>
          <p:cNvPr id="4" name="Shape 2"/>
          <p:cNvSpPr/>
          <p:nvPr/>
        </p:nvSpPr>
        <p:spPr>
          <a:xfrm>
            <a:off x="246888" y="877824"/>
            <a:ext cx="1481328" cy="960120"/>
          </a:xfrm>
          <a:prstGeom prst="rect">
            <a:avLst/>
          </a:prstGeom>
          <a:solidFill>
            <a:srgbClr val="0A1628"/>
          </a:solidFill>
          <a:ln w="25400">
            <a:solidFill>
              <a:srgbClr val="10B981"/>
            </a:solidFill>
            <a:prstDash val="solid"/>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292608" y="932688"/>
            <a:ext cx="1389888" cy="457200"/>
          </a:xfrm>
          <a:prstGeom prst="rect">
            <a:avLst/>
          </a:prstGeom>
          <a:noFill/>
          <a:ln/>
        </p:spPr>
        <p:txBody>
          <a:bodyPr wrap="square" rtlCol="0" anchor="ctr"/>
          <a:lstStyle/>
          <a:p>
            <a:pPr marL="0" indent="0" algn="ctr">
              <a:buNone/>
            </a:pPr>
            <a:r>
              <a:rPr lang="en-US" sz="1100" b="1" dirty="0">
                <a:solidFill>
                  <a:srgbClr val="FFFFFF"/>
                </a:solidFill>
              </a:rPr>
              <a:t>ESP32</a:t>
            </a:r>
            <a:endParaRPr lang="en-US" sz="1100" dirty="0"/>
          </a:p>
          <a:p>
            <a:pPr marL="0" indent="0" algn="ctr">
              <a:buNone/>
            </a:pPr>
            <a:r>
              <a:rPr lang="en-US" sz="1100" b="1" dirty="0">
                <a:solidFill>
                  <a:srgbClr val="FFFFFF"/>
                </a:solidFill>
              </a:rPr>
              <a:t>Node</a:t>
            </a:r>
            <a:endParaRPr lang="en-US" sz="1100" dirty="0"/>
          </a:p>
        </p:txBody>
      </p:sp>
      <p:sp>
        <p:nvSpPr>
          <p:cNvPr id="6" name="Text 4"/>
          <p:cNvSpPr/>
          <p:nvPr/>
        </p:nvSpPr>
        <p:spPr>
          <a:xfrm>
            <a:off x="292608" y="1408176"/>
            <a:ext cx="1389888" cy="384048"/>
          </a:xfrm>
          <a:prstGeom prst="rect">
            <a:avLst/>
          </a:prstGeom>
          <a:noFill/>
          <a:ln/>
        </p:spPr>
        <p:txBody>
          <a:bodyPr wrap="square" rtlCol="0" anchor="ctr"/>
          <a:lstStyle/>
          <a:p>
            <a:pPr marL="0" indent="0" algn="ctr">
              <a:buNone/>
            </a:pPr>
            <a:r>
              <a:rPr lang="en-US" sz="850" dirty="0">
                <a:solidFill>
                  <a:srgbClr val="10B981"/>
                </a:solidFill>
              </a:rPr>
              <a:t>C/C++ · Arduino</a:t>
            </a:r>
            <a:endParaRPr lang="en-US" sz="850" dirty="0"/>
          </a:p>
        </p:txBody>
      </p:sp>
      <p:sp>
        <p:nvSpPr>
          <p:cNvPr id="7" name="Shape 5"/>
          <p:cNvSpPr/>
          <p:nvPr/>
        </p:nvSpPr>
        <p:spPr>
          <a:xfrm>
            <a:off x="1755648" y="1357884"/>
            <a:ext cx="256032" cy="0"/>
          </a:xfrm>
          <a:prstGeom prst="line">
            <a:avLst/>
          </a:prstGeom>
          <a:noFill/>
          <a:ln w="19050">
            <a:solidFill>
              <a:srgbClr val="475569"/>
            </a:solidFill>
            <a:prstDash val="solid"/>
          </a:ln>
        </p:spPr>
        <p:txBody>
          <a:bodyPr/>
          <a:lstStyle/>
          <a:p>
            <a:endParaRPr lang="en-US"/>
          </a:p>
        </p:txBody>
      </p:sp>
      <p:sp>
        <p:nvSpPr>
          <p:cNvPr id="8" name="Shape 6"/>
          <p:cNvSpPr/>
          <p:nvPr/>
        </p:nvSpPr>
        <p:spPr>
          <a:xfrm>
            <a:off x="2039112" y="877824"/>
            <a:ext cx="1481328" cy="960120"/>
          </a:xfrm>
          <a:prstGeom prst="rect">
            <a:avLst/>
          </a:prstGeom>
          <a:solidFill>
            <a:srgbClr val="0A1628"/>
          </a:solidFill>
          <a:ln w="25400">
            <a:solidFill>
              <a:srgbClr val="94A3B8"/>
            </a:solidFill>
            <a:prstDash val="solid"/>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2084832" y="932688"/>
            <a:ext cx="1389888" cy="457200"/>
          </a:xfrm>
          <a:prstGeom prst="rect">
            <a:avLst/>
          </a:prstGeom>
          <a:noFill/>
          <a:ln/>
        </p:spPr>
        <p:txBody>
          <a:bodyPr wrap="square" rtlCol="0" anchor="ctr"/>
          <a:lstStyle/>
          <a:p>
            <a:pPr marL="0" indent="0" algn="ctr">
              <a:buNone/>
            </a:pPr>
            <a:r>
              <a:rPr lang="en-US" sz="1100" b="1" dirty="0">
                <a:solidFill>
                  <a:srgbClr val="FFFFFF"/>
                </a:solidFill>
              </a:rPr>
              <a:t>Wi-Fi</a:t>
            </a:r>
            <a:endParaRPr lang="en-US" sz="1100" dirty="0"/>
          </a:p>
          <a:p>
            <a:pPr marL="0" indent="0" algn="ctr">
              <a:buNone/>
            </a:pPr>
            <a:r>
              <a:rPr lang="en-US" sz="1100" b="1" dirty="0">
                <a:solidFill>
                  <a:srgbClr val="FFFFFF"/>
                </a:solidFill>
              </a:rPr>
              <a:t>Access Point</a:t>
            </a:r>
            <a:endParaRPr lang="en-US" sz="1100" dirty="0"/>
          </a:p>
        </p:txBody>
      </p:sp>
      <p:sp>
        <p:nvSpPr>
          <p:cNvPr id="10" name="Text 8"/>
          <p:cNvSpPr/>
          <p:nvPr/>
        </p:nvSpPr>
        <p:spPr>
          <a:xfrm>
            <a:off x="2084832" y="1408176"/>
            <a:ext cx="1389888" cy="384048"/>
          </a:xfrm>
          <a:prstGeom prst="rect">
            <a:avLst/>
          </a:prstGeom>
          <a:noFill/>
          <a:ln/>
        </p:spPr>
        <p:txBody>
          <a:bodyPr wrap="square" rtlCol="0" anchor="ctr"/>
          <a:lstStyle/>
          <a:p>
            <a:pPr marL="0" indent="0" algn="ctr">
              <a:buNone/>
            </a:pPr>
            <a:r>
              <a:rPr lang="en-US" sz="850" dirty="0">
                <a:solidFill>
                  <a:srgbClr val="94A3B8"/>
                </a:solidFill>
              </a:rPr>
              <a:t>HTTP POST (JSON)</a:t>
            </a:r>
            <a:endParaRPr lang="en-US" sz="850" dirty="0"/>
          </a:p>
        </p:txBody>
      </p:sp>
      <p:sp>
        <p:nvSpPr>
          <p:cNvPr id="11" name="Shape 9"/>
          <p:cNvSpPr/>
          <p:nvPr/>
        </p:nvSpPr>
        <p:spPr>
          <a:xfrm>
            <a:off x="3547872" y="1357884"/>
            <a:ext cx="256032" cy="0"/>
          </a:xfrm>
          <a:prstGeom prst="line">
            <a:avLst/>
          </a:prstGeom>
          <a:noFill/>
          <a:ln w="19050">
            <a:solidFill>
              <a:srgbClr val="475569"/>
            </a:solidFill>
            <a:prstDash val="solid"/>
          </a:ln>
        </p:spPr>
        <p:txBody>
          <a:bodyPr/>
          <a:lstStyle/>
          <a:p>
            <a:endParaRPr lang="en-US"/>
          </a:p>
        </p:txBody>
      </p:sp>
      <p:sp>
        <p:nvSpPr>
          <p:cNvPr id="12" name="Shape 10"/>
          <p:cNvSpPr/>
          <p:nvPr/>
        </p:nvSpPr>
        <p:spPr>
          <a:xfrm>
            <a:off x="3831336" y="877824"/>
            <a:ext cx="1481328" cy="960120"/>
          </a:xfrm>
          <a:prstGeom prst="rect">
            <a:avLst/>
          </a:prstGeom>
          <a:solidFill>
            <a:srgbClr val="0A1628"/>
          </a:solidFill>
          <a:ln w="25400">
            <a:solidFill>
              <a:srgbClr val="0EA5E9"/>
            </a:solidFill>
            <a:prstDash val="solid"/>
          </a:ln>
          <a:effectLst>
            <a:outerShdw blurRad="101600" dist="38100" dir="8100000" algn="bl" rotWithShape="0">
              <a:srgbClr val="000000">
                <a:alpha val="18000"/>
              </a:srgbClr>
            </a:outerShdw>
          </a:effectLst>
        </p:spPr>
        <p:txBody>
          <a:bodyPr/>
          <a:lstStyle/>
          <a:p>
            <a:endParaRPr lang="en-US"/>
          </a:p>
        </p:txBody>
      </p:sp>
      <p:sp>
        <p:nvSpPr>
          <p:cNvPr id="13" name="Text 11"/>
          <p:cNvSpPr/>
          <p:nvPr/>
        </p:nvSpPr>
        <p:spPr>
          <a:xfrm>
            <a:off x="3877056" y="932688"/>
            <a:ext cx="1389888" cy="457200"/>
          </a:xfrm>
          <a:prstGeom prst="rect">
            <a:avLst/>
          </a:prstGeom>
          <a:noFill/>
          <a:ln/>
        </p:spPr>
        <p:txBody>
          <a:bodyPr wrap="square" rtlCol="0" anchor="ctr"/>
          <a:lstStyle/>
          <a:p>
            <a:pPr marL="0" indent="0" algn="ctr">
              <a:buNone/>
            </a:pPr>
            <a:r>
              <a:rPr lang="en-US" sz="1100" b="1" dirty="0">
                <a:solidFill>
                  <a:srgbClr val="FFFFFF"/>
                </a:solidFill>
              </a:rPr>
              <a:t>FastAPI</a:t>
            </a:r>
            <a:endParaRPr lang="en-US" sz="1100" dirty="0"/>
          </a:p>
          <a:p>
            <a:pPr marL="0" indent="0" algn="ctr">
              <a:buNone/>
            </a:pPr>
            <a:r>
              <a:rPr lang="en-US" sz="1100" b="1" dirty="0">
                <a:solidFill>
                  <a:srgbClr val="FFFFFF"/>
                </a:solidFill>
              </a:rPr>
              <a:t>Backend</a:t>
            </a:r>
            <a:endParaRPr lang="en-US" sz="1100" dirty="0"/>
          </a:p>
        </p:txBody>
      </p:sp>
      <p:sp>
        <p:nvSpPr>
          <p:cNvPr id="14" name="Text 12"/>
          <p:cNvSpPr/>
          <p:nvPr/>
        </p:nvSpPr>
        <p:spPr>
          <a:xfrm>
            <a:off x="3877056" y="1408176"/>
            <a:ext cx="1389888" cy="384048"/>
          </a:xfrm>
          <a:prstGeom prst="rect">
            <a:avLst/>
          </a:prstGeom>
          <a:noFill/>
          <a:ln/>
        </p:spPr>
        <p:txBody>
          <a:bodyPr wrap="square" rtlCol="0" anchor="ctr"/>
          <a:lstStyle/>
          <a:p>
            <a:pPr marL="0" indent="0" algn="ctr">
              <a:buNone/>
            </a:pPr>
            <a:r>
              <a:rPr lang="en-US" sz="850" dirty="0">
                <a:solidFill>
                  <a:srgbClr val="0EA5E9"/>
                </a:solidFill>
              </a:rPr>
              <a:t>Python · SQLAlchemy</a:t>
            </a:r>
            <a:endParaRPr lang="en-US" sz="850" dirty="0"/>
          </a:p>
        </p:txBody>
      </p:sp>
      <p:sp>
        <p:nvSpPr>
          <p:cNvPr id="15" name="Shape 13"/>
          <p:cNvSpPr/>
          <p:nvPr/>
        </p:nvSpPr>
        <p:spPr>
          <a:xfrm>
            <a:off x="5340096" y="1357884"/>
            <a:ext cx="256032" cy="0"/>
          </a:xfrm>
          <a:prstGeom prst="line">
            <a:avLst/>
          </a:prstGeom>
          <a:noFill/>
          <a:ln w="19050">
            <a:solidFill>
              <a:srgbClr val="475569"/>
            </a:solidFill>
            <a:prstDash val="solid"/>
          </a:ln>
        </p:spPr>
        <p:txBody>
          <a:bodyPr/>
          <a:lstStyle/>
          <a:p>
            <a:endParaRPr lang="en-US"/>
          </a:p>
        </p:txBody>
      </p:sp>
      <p:sp>
        <p:nvSpPr>
          <p:cNvPr id="16" name="Shape 14"/>
          <p:cNvSpPr/>
          <p:nvPr/>
        </p:nvSpPr>
        <p:spPr>
          <a:xfrm>
            <a:off x="5623560" y="877824"/>
            <a:ext cx="1481328" cy="960120"/>
          </a:xfrm>
          <a:prstGeom prst="rect">
            <a:avLst/>
          </a:prstGeom>
          <a:solidFill>
            <a:srgbClr val="0A1628"/>
          </a:solidFill>
          <a:ln w="25400">
            <a:solidFill>
              <a:srgbClr val="0EA5E9"/>
            </a:solidFill>
            <a:prstDash val="solid"/>
          </a:ln>
          <a:effectLst>
            <a:outerShdw blurRad="101600" dist="38100" dir="8100000" algn="bl" rotWithShape="0">
              <a:srgbClr val="000000">
                <a:alpha val="18000"/>
              </a:srgbClr>
            </a:outerShdw>
          </a:effectLst>
        </p:spPr>
        <p:txBody>
          <a:bodyPr/>
          <a:lstStyle/>
          <a:p>
            <a:endParaRPr lang="en-US"/>
          </a:p>
        </p:txBody>
      </p:sp>
      <p:sp>
        <p:nvSpPr>
          <p:cNvPr id="17" name="Text 15"/>
          <p:cNvSpPr/>
          <p:nvPr/>
        </p:nvSpPr>
        <p:spPr>
          <a:xfrm>
            <a:off x="5669280" y="932688"/>
            <a:ext cx="1389888" cy="457200"/>
          </a:xfrm>
          <a:prstGeom prst="rect">
            <a:avLst/>
          </a:prstGeom>
          <a:noFill/>
          <a:ln/>
        </p:spPr>
        <p:txBody>
          <a:bodyPr wrap="square" rtlCol="0" anchor="ctr"/>
          <a:lstStyle/>
          <a:p>
            <a:pPr marL="0" indent="0" algn="ctr">
              <a:buNone/>
            </a:pPr>
            <a:r>
              <a:rPr lang="en-US" sz="1100" b="1" dirty="0">
                <a:solidFill>
                  <a:srgbClr val="FFFFFF"/>
                </a:solidFill>
              </a:rPr>
              <a:t>PostgreSQL</a:t>
            </a:r>
            <a:endParaRPr lang="en-US" sz="1100" dirty="0"/>
          </a:p>
          <a:p>
            <a:pPr marL="0" indent="0" algn="ctr">
              <a:buNone/>
            </a:pPr>
            <a:r>
              <a:rPr lang="en-US" sz="1100" b="1" dirty="0">
                <a:solidFill>
                  <a:srgbClr val="FFFFFF"/>
                </a:solidFill>
              </a:rPr>
              <a:t>Database</a:t>
            </a:r>
            <a:endParaRPr lang="en-US" sz="1100" dirty="0"/>
          </a:p>
        </p:txBody>
      </p:sp>
      <p:sp>
        <p:nvSpPr>
          <p:cNvPr id="18" name="Text 16"/>
          <p:cNvSpPr/>
          <p:nvPr/>
        </p:nvSpPr>
        <p:spPr>
          <a:xfrm>
            <a:off x="5669280" y="1408176"/>
            <a:ext cx="1389888" cy="384048"/>
          </a:xfrm>
          <a:prstGeom prst="rect">
            <a:avLst/>
          </a:prstGeom>
          <a:noFill/>
          <a:ln/>
        </p:spPr>
        <p:txBody>
          <a:bodyPr wrap="square" rtlCol="0" anchor="ctr"/>
          <a:lstStyle/>
          <a:p>
            <a:pPr marL="0" indent="0" algn="ctr">
              <a:buNone/>
            </a:pPr>
            <a:r>
              <a:rPr lang="en-US" sz="850" dirty="0">
                <a:solidFill>
                  <a:srgbClr val="0EA5E9"/>
                </a:solidFill>
              </a:rPr>
              <a:t>scan_point · wifi_scan</a:t>
            </a:r>
            <a:endParaRPr lang="en-US" sz="850" dirty="0"/>
          </a:p>
          <a:p>
            <a:pPr marL="0" indent="0" algn="ctr">
              <a:buNone/>
            </a:pPr>
            <a:r>
              <a:rPr lang="en-US" sz="850" dirty="0">
                <a:solidFill>
                  <a:srgbClr val="0EA5E9"/>
                </a:solidFill>
              </a:rPr>
              <a:t>dht22 · mq135</a:t>
            </a:r>
            <a:endParaRPr lang="en-US" sz="850" dirty="0"/>
          </a:p>
        </p:txBody>
      </p:sp>
      <p:sp>
        <p:nvSpPr>
          <p:cNvPr id="19" name="Shape 17"/>
          <p:cNvSpPr/>
          <p:nvPr/>
        </p:nvSpPr>
        <p:spPr>
          <a:xfrm>
            <a:off x="7132320" y="1357884"/>
            <a:ext cx="256032" cy="0"/>
          </a:xfrm>
          <a:prstGeom prst="line">
            <a:avLst/>
          </a:prstGeom>
          <a:noFill/>
          <a:ln w="19050">
            <a:solidFill>
              <a:srgbClr val="475569"/>
            </a:solidFill>
            <a:prstDash val="solid"/>
          </a:ln>
        </p:spPr>
        <p:txBody>
          <a:bodyPr/>
          <a:lstStyle/>
          <a:p>
            <a:endParaRPr lang="en-US"/>
          </a:p>
        </p:txBody>
      </p:sp>
      <p:sp>
        <p:nvSpPr>
          <p:cNvPr id="20" name="Shape 18"/>
          <p:cNvSpPr/>
          <p:nvPr/>
        </p:nvSpPr>
        <p:spPr>
          <a:xfrm>
            <a:off x="7415784" y="877824"/>
            <a:ext cx="1481328" cy="960120"/>
          </a:xfrm>
          <a:prstGeom prst="rect">
            <a:avLst/>
          </a:prstGeom>
          <a:solidFill>
            <a:srgbClr val="0A1628"/>
          </a:solidFill>
          <a:ln w="25400">
            <a:solidFill>
              <a:srgbClr val="F59E0B"/>
            </a:solidFill>
            <a:prstDash val="solid"/>
          </a:ln>
          <a:effectLst>
            <a:outerShdw blurRad="101600" dist="38100" dir="8100000" algn="bl" rotWithShape="0">
              <a:srgbClr val="000000">
                <a:alpha val="18000"/>
              </a:srgbClr>
            </a:outerShdw>
          </a:effectLst>
        </p:spPr>
        <p:txBody>
          <a:bodyPr/>
          <a:lstStyle/>
          <a:p>
            <a:endParaRPr lang="en-US"/>
          </a:p>
        </p:txBody>
      </p:sp>
      <p:sp>
        <p:nvSpPr>
          <p:cNvPr id="21" name="Text 19"/>
          <p:cNvSpPr/>
          <p:nvPr/>
        </p:nvSpPr>
        <p:spPr>
          <a:xfrm>
            <a:off x="7461504" y="932688"/>
            <a:ext cx="1389888" cy="457200"/>
          </a:xfrm>
          <a:prstGeom prst="rect">
            <a:avLst/>
          </a:prstGeom>
          <a:noFill/>
          <a:ln/>
        </p:spPr>
        <p:txBody>
          <a:bodyPr wrap="square" rtlCol="0" anchor="ctr"/>
          <a:lstStyle/>
          <a:p>
            <a:pPr marL="0" indent="0" algn="ctr">
              <a:buNone/>
            </a:pPr>
            <a:r>
              <a:rPr lang="en-US" sz="1100" b="1" dirty="0">
                <a:solidFill>
                  <a:srgbClr val="FFFFFF"/>
                </a:solidFill>
              </a:rPr>
              <a:t>Next.js</a:t>
            </a:r>
            <a:endParaRPr lang="en-US" sz="1100" dirty="0"/>
          </a:p>
          <a:p>
            <a:pPr marL="0" indent="0" algn="ctr">
              <a:buNone/>
            </a:pPr>
            <a:r>
              <a:rPr lang="en-US" sz="1100" b="1" dirty="0">
                <a:solidFill>
                  <a:srgbClr val="FFFFFF"/>
                </a:solidFill>
              </a:rPr>
              <a:t>Frontend</a:t>
            </a:r>
            <a:endParaRPr lang="en-US" sz="1100" dirty="0"/>
          </a:p>
        </p:txBody>
      </p:sp>
      <p:sp>
        <p:nvSpPr>
          <p:cNvPr id="22" name="Text 20"/>
          <p:cNvSpPr/>
          <p:nvPr/>
        </p:nvSpPr>
        <p:spPr>
          <a:xfrm>
            <a:off x="7461504" y="1408176"/>
            <a:ext cx="1389888" cy="384048"/>
          </a:xfrm>
          <a:prstGeom prst="rect">
            <a:avLst/>
          </a:prstGeom>
          <a:noFill/>
          <a:ln/>
        </p:spPr>
        <p:txBody>
          <a:bodyPr wrap="square" rtlCol="0" anchor="ctr"/>
          <a:lstStyle/>
          <a:p>
            <a:pPr marL="0" indent="0" algn="ctr">
              <a:buNone/>
            </a:pPr>
            <a:r>
              <a:rPr lang="en-US" sz="850" dirty="0">
                <a:solidFill>
                  <a:srgbClr val="F59E0B"/>
                </a:solidFill>
              </a:rPr>
              <a:t>React · TypeScript</a:t>
            </a:r>
            <a:endParaRPr lang="en-US" sz="850" dirty="0"/>
          </a:p>
        </p:txBody>
      </p:sp>
      <p:sp>
        <p:nvSpPr>
          <p:cNvPr id="23" name="Shape 21"/>
          <p:cNvSpPr/>
          <p:nvPr/>
        </p:nvSpPr>
        <p:spPr>
          <a:xfrm>
            <a:off x="246888" y="1984248"/>
            <a:ext cx="4023360" cy="1078992"/>
          </a:xfrm>
          <a:prstGeom prst="rect">
            <a:avLst/>
          </a:prstGeom>
          <a:solidFill>
            <a:srgbClr val="FFFFFF"/>
          </a:solidFill>
          <a:ln w="19050">
            <a:solidFill>
              <a:srgbClr val="EF4444"/>
            </a:solidFill>
            <a:prstDash val="solid"/>
          </a:ln>
          <a:effectLst>
            <a:outerShdw blurRad="101600" dist="38100" dir="8100000" algn="bl" rotWithShape="0">
              <a:srgbClr val="000000">
                <a:alpha val="18000"/>
              </a:srgbClr>
            </a:outerShdw>
          </a:effectLst>
        </p:spPr>
        <p:txBody>
          <a:bodyPr/>
          <a:lstStyle/>
          <a:p>
            <a:endParaRPr lang="en-US"/>
          </a:p>
        </p:txBody>
      </p:sp>
      <p:sp>
        <p:nvSpPr>
          <p:cNvPr id="24" name="Shape 22"/>
          <p:cNvSpPr/>
          <p:nvPr/>
        </p:nvSpPr>
        <p:spPr>
          <a:xfrm>
            <a:off x="246888" y="1984248"/>
            <a:ext cx="4023360" cy="54864"/>
          </a:xfrm>
          <a:prstGeom prst="rect">
            <a:avLst/>
          </a:prstGeom>
          <a:solidFill>
            <a:srgbClr val="EF4444"/>
          </a:solidFill>
          <a:ln w="12700">
            <a:solidFill>
              <a:srgbClr val="EF4444"/>
            </a:solidFill>
            <a:prstDash val="solid"/>
          </a:ln>
        </p:spPr>
        <p:txBody>
          <a:bodyPr/>
          <a:lstStyle/>
          <a:p>
            <a:endParaRPr lang="en-US"/>
          </a:p>
        </p:txBody>
      </p:sp>
      <p:sp>
        <p:nvSpPr>
          <p:cNvPr id="25" name="Text 23"/>
          <p:cNvSpPr/>
          <p:nvPr/>
        </p:nvSpPr>
        <p:spPr>
          <a:xfrm>
            <a:off x="384048" y="2075688"/>
            <a:ext cx="3657600" cy="301752"/>
          </a:xfrm>
          <a:prstGeom prst="rect">
            <a:avLst/>
          </a:prstGeom>
          <a:noFill/>
          <a:ln/>
        </p:spPr>
        <p:txBody>
          <a:bodyPr wrap="square" rtlCol="0" anchor="ctr"/>
          <a:lstStyle/>
          <a:p>
            <a:pPr marL="0" indent="0">
              <a:buNone/>
            </a:pPr>
            <a:r>
              <a:rPr lang="en-US" sz="1250" b="1" dirty="0">
                <a:solidFill>
                  <a:srgbClr val="EF4444"/>
                </a:solidFill>
              </a:rPr>
              <a:t>🗺️  Admin — Place Scan Point</a:t>
            </a:r>
            <a:endParaRPr lang="en-US" sz="1250" dirty="0"/>
          </a:p>
        </p:txBody>
      </p:sp>
      <p:sp>
        <p:nvSpPr>
          <p:cNvPr id="26" name="Text 24"/>
          <p:cNvSpPr/>
          <p:nvPr/>
        </p:nvSpPr>
        <p:spPr>
          <a:xfrm>
            <a:off x="384048" y="2423160"/>
            <a:ext cx="3566160" cy="566928"/>
          </a:xfrm>
          <a:prstGeom prst="rect">
            <a:avLst/>
          </a:prstGeom>
          <a:noFill/>
          <a:ln/>
        </p:spPr>
        <p:txBody>
          <a:bodyPr wrap="square" rtlCol="0" anchor="ctr"/>
          <a:lstStyle/>
          <a:p>
            <a:r>
              <a:rPr lang="en-US" sz="1000" dirty="0">
                <a:solidFill>
                  <a:srgbClr val="475569"/>
                </a:solidFill>
              </a:rPr>
              <a:t>Upload floor plan → Click floor plan → pin (x, y) coordinate → assign ESP32 node ID</a:t>
            </a:r>
            <a:endParaRPr lang="en-US" sz="1000" dirty="0"/>
          </a:p>
          <a:p>
            <a:pPr marL="0" indent="0">
              <a:buNone/>
            </a:pPr>
            <a:r>
              <a:rPr lang="en-US" sz="1000" dirty="0">
                <a:solidFill>
                  <a:srgbClr val="475569"/>
                </a:solidFill>
              </a:rPr>
              <a:t>All sensor data from that device references this scan_point_id</a:t>
            </a:r>
            <a:endParaRPr lang="en-US" sz="1000" dirty="0"/>
          </a:p>
        </p:txBody>
      </p:sp>
      <p:sp>
        <p:nvSpPr>
          <p:cNvPr id="27" name="Text 25"/>
          <p:cNvSpPr/>
          <p:nvPr/>
        </p:nvSpPr>
        <p:spPr>
          <a:xfrm>
            <a:off x="4480560" y="2020824"/>
            <a:ext cx="4389120" cy="274320"/>
          </a:xfrm>
          <a:prstGeom prst="rect">
            <a:avLst/>
          </a:prstGeom>
          <a:noFill/>
          <a:ln/>
        </p:spPr>
        <p:txBody>
          <a:bodyPr wrap="square" rtlCol="0" anchor="ctr"/>
          <a:lstStyle/>
          <a:p>
            <a:pPr marL="0" indent="0">
              <a:buNone/>
            </a:pPr>
            <a:r>
              <a:rPr lang="en-US" sz="1100" b="1" dirty="0">
                <a:solidFill>
                  <a:srgbClr val="1E293B"/>
                </a:solidFill>
              </a:rPr>
              <a:t>4 Heatmap Types:</a:t>
            </a:r>
            <a:endParaRPr lang="en-US" sz="1100" dirty="0"/>
          </a:p>
        </p:txBody>
      </p:sp>
      <p:sp>
        <p:nvSpPr>
          <p:cNvPr id="28" name="Shape 26"/>
          <p:cNvSpPr/>
          <p:nvPr/>
        </p:nvSpPr>
        <p:spPr>
          <a:xfrm>
            <a:off x="4480560" y="2331720"/>
            <a:ext cx="2011680" cy="329184"/>
          </a:xfrm>
          <a:prstGeom prst="rect">
            <a:avLst/>
          </a:prstGeom>
          <a:solidFill>
            <a:srgbClr val="0A1628"/>
          </a:solidFill>
          <a:ln w="15240">
            <a:solidFill>
              <a:srgbClr val="0EA5E9"/>
            </a:solidFill>
            <a:prstDash val="solid"/>
          </a:ln>
        </p:spPr>
        <p:txBody>
          <a:bodyPr/>
          <a:lstStyle/>
          <a:p>
            <a:endParaRPr lang="en-US"/>
          </a:p>
        </p:txBody>
      </p:sp>
      <p:sp>
        <p:nvSpPr>
          <p:cNvPr id="29" name="Text 27"/>
          <p:cNvSpPr/>
          <p:nvPr/>
        </p:nvSpPr>
        <p:spPr>
          <a:xfrm>
            <a:off x="4553712" y="2386584"/>
            <a:ext cx="1874520" cy="237744"/>
          </a:xfrm>
          <a:prstGeom prst="rect">
            <a:avLst/>
          </a:prstGeom>
          <a:noFill/>
          <a:ln/>
        </p:spPr>
        <p:txBody>
          <a:bodyPr wrap="square" rtlCol="0" anchor="ctr"/>
          <a:lstStyle/>
          <a:p>
            <a:pPr marL="0" indent="0">
              <a:buNone/>
            </a:pPr>
            <a:r>
              <a:rPr lang="en-US" sz="1000" b="1" dirty="0">
                <a:solidFill>
                  <a:srgbClr val="0EA5E9"/>
                </a:solidFill>
              </a:rPr>
              <a:t>📶  Wi-Fi Signal  ·  RSSI dBm</a:t>
            </a:r>
            <a:endParaRPr lang="en-US" sz="1000" dirty="0"/>
          </a:p>
        </p:txBody>
      </p:sp>
      <p:sp>
        <p:nvSpPr>
          <p:cNvPr id="30" name="Shape 28"/>
          <p:cNvSpPr/>
          <p:nvPr/>
        </p:nvSpPr>
        <p:spPr>
          <a:xfrm>
            <a:off x="6629400" y="2331720"/>
            <a:ext cx="2011680" cy="329184"/>
          </a:xfrm>
          <a:prstGeom prst="rect">
            <a:avLst/>
          </a:prstGeom>
          <a:solidFill>
            <a:srgbClr val="0A1628"/>
          </a:solidFill>
          <a:ln w="15240">
            <a:solidFill>
              <a:srgbClr val="F59E0B"/>
            </a:solidFill>
            <a:prstDash val="solid"/>
          </a:ln>
        </p:spPr>
        <p:txBody>
          <a:bodyPr/>
          <a:lstStyle/>
          <a:p>
            <a:endParaRPr lang="en-US"/>
          </a:p>
        </p:txBody>
      </p:sp>
      <p:sp>
        <p:nvSpPr>
          <p:cNvPr id="31" name="Text 29"/>
          <p:cNvSpPr/>
          <p:nvPr/>
        </p:nvSpPr>
        <p:spPr>
          <a:xfrm>
            <a:off x="6702552" y="2386584"/>
            <a:ext cx="1874520" cy="237744"/>
          </a:xfrm>
          <a:prstGeom prst="rect">
            <a:avLst/>
          </a:prstGeom>
          <a:noFill/>
          <a:ln/>
        </p:spPr>
        <p:txBody>
          <a:bodyPr wrap="square" rtlCol="0" anchor="ctr"/>
          <a:lstStyle/>
          <a:p>
            <a:pPr marL="0" indent="0">
              <a:buNone/>
            </a:pPr>
            <a:r>
              <a:rPr lang="en-US" sz="1000" b="1" dirty="0">
                <a:solidFill>
                  <a:srgbClr val="F59E0B"/>
                </a:solidFill>
              </a:rPr>
              <a:t>🌡️  Temperature  ·  °C DHT22</a:t>
            </a:r>
            <a:endParaRPr lang="en-US" sz="1000" dirty="0"/>
          </a:p>
        </p:txBody>
      </p:sp>
      <p:sp>
        <p:nvSpPr>
          <p:cNvPr id="32" name="Shape 30"/>
          <p:cNvSpPr/>
          <p:nvPr/>
        </p:nvSpPr>
        <p:spPr>
          <a:xfrm>
            <a:off x="4480560" y="2715768"/>
            <a:ext cx="2011680" cy="329184"/>
          </a:xfrm>
          <a:prstGeom prst="rect">
            <a:avLst/>
          </a:prstGeom>
          <a:solidFill>
            <a:srgbClr val="0A1628"/>
          </a:solidFill>
          <a:ln w="15240">
            <a:solidFill>
              <a:srgbClr val="06B6D4"/>
            </a:solidFill>
            <a:prstDash val="solid"/>
          </a:ln>
        </p:spPr>
        <p:txBody>
          <a:bodyPr/>
          <a:lstStyle/>
          <a:p>
            <a:endParaRPr lang="en-US"/>
          </a:p>
        </p:txBody>
      </p:sp>
      <p:sp>
        <p:nvSpPr>
          <p:cNvPr id="33" name="Text 31"/>
          <p:cNvSpPr/>
          <p:nvPr/>
        </p:nvSpPr>
        <p:spPr>
          <a:xfrm>
            <a:off x="4553712" y="2770632"/>
            <a:ext cx="1874520" cy="237744"/>
          </a:xfrm>
          <a:prstGeom prst="rect">
            <a:avLst/>
          </a:prstGeom>
          <a:noFill/>
          <a:ln/>
        </p:spPr>
        <p:txBody>
          <a:bodyPr wrap="square" rtlCol="0" anchor="ctr"/>
          <a:lstStyle/>
          <a:p>
            <a:pPr marL="0" indent="0">
              <a:buNone/>
            </a:pPr>
            <a:r>
              <a:rPr lang="en-US" sz="1000" b="1" dirty="0">
                <a:solidFill>
                  <a:srgbClr val="06B6D4"/>
                </a:solidFill>
              </a:rPr>
              <a:t>💧  Humidity  ·  %RH DHT22</a:t>
            </a:r>
            <a:endParaRPr lang="en-US" sz="1000" dirty="0"/>
          </a:p>
        </p:txBody>
      </p:sp>
      <p:sp>
        <p:nvSpPr>
          <p:cNvPr id="34" name="Shape 32"/>
          <p:cNvSpPr/>
          <p:nvPr/>
        </p:nvSpPr>
        <p:spPr>
          <a:xfrm>
            <a:off x="6629400" y="2715768"/>
            <a:ext cx="2011680" cy="329184"/>
          </a:xfrm>
          <a:prstGeom prst="rect">
            <a:avLst/>
          </a:prstGeom>
          <a:solidFill>
            <a:srgbClr val="0A1628"/>
          </a:solidFill>
          <a:ln w="15240">
            <a:solidFill>
              <a:srgbClr val="10B981"/>
            </a:solidFill>
            <a:prstDash val="solid"/>
          </a:ln>
        </p:spPr>
        <p:txBody>
          <a:bodyPr/>
          <a:lstStyle/>
          <a:p>
            <a:endParaRPr lang="en-US"/>
          </a:p>
        </p:txBody>
      </p:sp>
      <p:sp>
        <p:nvSpPr>
          <p:cNvPr id="35" name="Text 33"/>
          <p:cNvSpPr/>
          <p:nvPr/>
        </p:nvSpPr>
        <p:spPr>
          <a:xfrm>
            <a:off x="6702552" y="2770632"/>
            <a:ext cx="1874520" cy="237744"/>
          </a:xfrm>
          <a:prstGeom prst="rect">
            <a:avLst/>
          </a:prstGeom>
          <a:noFill/>
          <a:ln/>
        </p:spPr>
        <p:txBody>
          <a:bodyPr wrap="square" rtlCol="0" anchor="ctr"/>
          <a:lstStyle/>
          <a:p>
            <a:pPr marL="0" indent="0">
              <a:buNone/>
            </a:pPr>
            <a:r>
              <a:rPr lang="en-US" sz="1000" b="1" dirty="0">
                <a:solidFill>
                  <a:srgbClr val="10B981"/>
                </a:solidFill>
              </a:rPr>
              <a:t>🌫️  Air Quality  ·  ppm MQ-135</a:t>
            </a:r>
            <a:endParaRPr lang="en-US" sz="1000" dirty="0"/>
          </a:p>
        </p:txBody>
      </p:sp>
      <p:sp>
        <p:nvSpPr>
          <p:cNvPr id="36" name="Shape 34"/>
          <p:cNvSpPr/>
          <p:nvPr/>
        </p:nvSpPr>
        <p:spPr>
          <a:xfrm>
            <a:off x="246888" y="3218688"/>
            <a:ext cx="8650224" cy="1600200"/>
          </a:xfrm>
          <a:prstGeom prst="rect">
            <a:avLst/>
          </a:prstGeom>
          <a:solidFill>
            <a:srgbClr val="FFFFFF"/>
          </a:solidFill>
          <a:ln w="19050">
            <a:solidFill>
              <a:srgbClr val="F59E0B"/>
            </a:solidFill>
            <a:prstDash val="solid"/>
          </a:ln>
          <a:effectLst>
            <a:outerShdw blurRad="101600" dist="38100" dir="8100000" algn="bl" rotWithShape="0">
              <a:srgbClr val="000000">
                <a:alpha val="18000"/>
              </a:srgbClr>
            </a:outerShdw>
          </a:effectLst>
        </p:spPr>
        <p:txBody>
          <a:bodyPr/>
          <a:lstStyle/>
          <a:p>
            <a:endParaRPr lang="en-US"/>
          </a:p>
        </p:txBody>
      </p:sp>
      <p:sp>
        <p:nvSpPr>
          <p:cNvPr id="37" name="Shape 35"/>
          <p:cNvSpPr/>
          <p:nvPr/>
        </p:nvSpPr>
        <p:spPr>
          <a:xfrm>
            <a:off x="246888" y="3218688"/>
            <a:ext cx="8650224" cy="54864"/>
          </a:xfrm>
          <a:prstGeom prst="rect">
            <a:avLst/>
          </a:prstGeom>
          <a:solidFill>
            <a:srgbClr val="F59E0B"/>
          </a:solidFill>
          <a:ln w="12700">
            <a:solidFill>
              <a:srgbClr val="F59E0B"/>
            </a:solidFill>
            <a:prstDash val="solid"/>
          </a:ln>
        </p:spPr>
        <p:txBody>
          <a:bodyPr/>
          <a:lstStyle/>
          <a:p>
            <a:endParaRPr lang="en-US"/>
          </a:p>
        </p:txBody>
      </p:sp>
      <p:sp>
        <p:nvSpPr>
          <p:cNvPr id="38" name="Text 36"/>
          <p:cNvSpPr/>
          <p:nvPr/>
        </p:nvSpPr>
        <p:spPr>
          <a:xfrm>
            <a:off x="384048" y="3310128"/>
            <a:ext cx="8229600" cy="292608"/>
          </a:xfrm>
          <a:prstGeom prst="rect">
            <a:avLst/>
          </a:prstGeom>
          <a:noFill/>
          <a:ln/>
        </p:spPr>
        <p:txBody>
          <a:bodyPr wrap="square" rtlCol="0" anchor="ctr"/>
          <a:lstStyle/>
          <a:p>
            <a:pPr marL="0" indent="0">
              <a:buNone/>
            </a:pPr>
            <a:r>
              <a:rPr lang="en-US" sz="1250" b="1" dirty="0">
                <a:solidFill>
                  <a:srgbClr val="F59E0B"/>
                </a:solidFill>
              </a:rPr>
              <a:t>👤  User View — accessible from any browser, no install required</a:t>
            </a:r>
            <a:endParaRPr lang="en-US" sz="1250" dirty="0"/>
          </a:p>
        </p:txBody>
      </p:sp>
      <p:sp>
        <p:nvSpPr>
          <p:cNvPr id="39" name="Text 37"/>
          <p:cNvSpPr/>
          <p:nvPr/>
        </p:nvSpPr>
        <p:spPr>
          <a:xfrm>
            <a:off x="384048" y="3675888"/>
            <a:ext cx="14630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0" name="Text 38"/>
          <p:cNvSpPr/>
          <p:nvPr/>
        </p:nvSpPr>
        <p:spPr>
          <a:xfrm>
            <a:off x="384048" y="4059936"/>
            <a:ext cx="1463040" cy="640080"/>
          </a:xfrm>
          <a:prstGeom prst="rect">
            <a:avLst/>
          </a:prstGeom>
          <a:noFill/>
          <a:ln/>
        </p:spPr>
        <p:txBody>
          <a:bodyPr wrap="square" rtlCol="0" anchor="ctr"/>
          <a:lstStyle/>
          <a:p>
            <a:pPr marL="0" indent="0" algn="ctr">
              <a:buNone/>
            </a:pPr>
            <a:r>
              <a:rPr lang="en-US" sz="1000" dirty="0">
                <a:solidFill>
                  <a:srgbClr val="475569"/>
                </a:solidFill>
              </a:rPr>
              <a:t>Floor plan</a:t>
            </a:r>
            <a:endParaRPr lang="en-US" sz="1000" dirty="0"/>
          </a:p>
          <a:p>
            <a:pPr marL="0" indent="0" algn="ctr">
              <a:buNone/>
            </a:pPr>
            <a:r>
              <a:rPr lang="en-US" sz="1000" dirty="0">
                <a:solidFill>
                  <a:srgbClr val="475569"/>
                </a:solidFill>
              </a:rPr>
              <a:t>+ heatmap overlay</a:t>
            </a:r>
            <a:endParaRPr lang="en-US" sz="1000" dirty="0"/>
          </a:p>
        </p:txBody>
      </p:sp>
      <p:sp>
        <p:nvSpPr>
          <p:cNvPr id="41" name="Text 39"/>
          <p:cNvSpPr/>
          <p:nvPr/>
        </p:nvSpPr>
        <p:spPr>
          <a:xfrm>
            <a:off x="2075688" y="3675888"/>
            <a:ext cx="14630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2" name="Text 40"/>
          <p:cNvSpPr/>
          <p:nvPr/>
        </p:nvSpPr>
        <p:spPr>
          <a:xfrm>
            <a:off x="2075688" y="4059936"/>
            <a:ext cx="1463040" cy="640080"/>
          </a:xfrm>
          <a:prstGeom prst="rect">
            <a:avLst/>
          </a:prstGeom>
          <a:noFill/>
          <a:ln/>
        </p:spPr>
        <p:txBody>
          <a:bodyPr wrap="square" rtlCol="0" anchor="ctr"/>
          <a:lstStyle/>
          <a:p>
            <a:pPr marL="0" indent="0" algn="ctr">
              <a:buNone/>
            </a:pPr>
            <a:r>
              <a:rPr lang="en-US" sz="1000" dirty="0">
                <a:solidFill>
                  <a:srgbClr val="475569"/>
                </a:solidFill>
              </a:rPr>
              <a:t>Wi-Fi RSSI</a:t>
            </a:r>
            <a:endParaRPr lang="en-US" sz="1000" dirty="0"/>
          </a:p>
          <a:p>
            <a:pPr marL="0" indent="0" algn="ctr">
              <a:buNone/>
            </a:pPr>
            <a:r>
              <a:rPr lang="en-US" sz="1000" dirty="0">
                <a:solidFill>
                  <a:srgbClr val="475569"/>
                </a:solidFill>
              </a:rPr>
              <a:t>per scan point</a:t>
            </a:r>
            <a:endParaRPr lang="en-US" sz="1000" dirty="0"/>
          </a:p>
        </p:txBody>
      </p:sp>
      <p:sp>
        <p:nvSpPr>
          <p:cNvPr id="43" name="Text 41"/>
          <p:cNvSpPr/>
          <p:nvPr/>
        </p:nvSpPr>
        <p:spPr>
          <a:xfrm>
            <a:off x="3767328" y="3675888"/>
            <a:ext cx="14630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4" name="Text 42"/>
          <p:cNvSpPr/>
          <p:nvPr/>
        </p:nvSpPr>
        <p:spPr>
          <a:xfrm>
            <a:off x="3767328" y="4059936"/>
            <a:ext cx="1463040" cy="640080"/>
          </a:xfrm>
          <a:prstGeom prst="rect">
            <a:avLst/>
          </a:prstGeom>
          <a:noFill/>
          <a:ln/>
        </p:spPr>
        <p:txBody>
          <a:bodyPr wrap="square" rtlCol="0" anchor="ctr"/>
          <a:lstStyle/>
          <a:p>
            <a:pPr marL="0" indent="0" algn="ctr">
              <a:buNone/>
            </a:pPr>
            <a:r>
              <a:rPr lang="en-US" sz="1000" dirty="0">
                <a:solidFill>
                  <a:srgbClr val="475569"/>
                </a:solidFill>
              </a:rPr>
              <a:t>Temperature</a:t>
            </a:r>
            <a:endParaRPr lang="en-US" sz="1000" dirty="0"/>
          </a:p>
          <a:p>
            <a:pPr marL="0" indent="0" algn="ctr">
              <a:buNone/>
            </a:pPr>
            <a:r>
              <a:rPr lang="en-US" sz="1000" dirty="0">
                <a:solidFill>
                  <a:srgbClr val="475569"/>
                </a:solidFill>
              </a:rPr>
              <a:t>history chart</a:t>
            </a:r>
            <a:endParaRPr lang="en-US" sz="1000" dirty="0"/>
          </a:p>
        </p:txBody>
      </p:sp>
      <p:sp>
        <p:nvSpPr>
          <p:cNvPr id="45" name="Text 43"/>
          <p:cNvSpPr/>
          <p:nvPr/>
        </p:nvSpPr>
        <p:spPr>
          <a:xfrm>
            <a:off x="5458968" y="3675888"/>
            <a:ext cx="14630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6" name="Text 44"/>
          <p:cNvSpPr/>
          <p:nvPr/>
        </p:nvSpPr>
        <p:spPr>
          <a:xfrm>
            <a:off x="5458968" y="4059936"/>
            <a:ext cx="1463040" cy="640080"/>
          </a:xfrm>
          <a:prstGeom prst="rect">
            <a:avLst/>
          </a:prstGeom>
          <a:noFill/>
          <a:ln/>
        </p:spPr>
        <p:txBody>
          <a:bodyPr wrap="square" rtlCol="0" anchor="ctr"/>
          <a:lstStyle/>
          <a:p>
            <a:pPr marL="0" indent="0" algn="ctr">
              <a:buNone/>
            </a:pPr>
            <a:r>
              <a:rPr lang="en-US" sz="1000" dirty="0">
                <a:solidFill>
                  <a:srgbClr val="475569"/>
                </a:solidFill>
              </a:rPr>
              <a:t>Humidity</a:t>
            </a:r>
            <a:endParaRPr lang="en-US" sz="1000" dirty="0"/>
          </a:p>
          <a:p>
            <a:pPr marL="0" indent="0" algn="ctr">
              <a:buNone/>
            </a:pPr>
            <a:r>
              <a:rPr lang="en-US" sz="1000" dirty="0">
                <a:solidFill>
                  <a:srgbClr val="475569"/>
                </a:solidFill>
              </a:rPr>
              <a:t>history chart</a:t>
            </a:r>
            <a:endParaRPr lang="en-US" sz="1000" dirty="0"/>
          </a:p>
        </p:txBody>
      </p:sp>
      <p:sp>
        <p:nvSpPr>
          <p:cNvPr id="47" name="Text 45"/>
          <p:cNvSpPr/>
          <p:nvPr/>
        </p:nvSpPr>
        <p:spPr>
          <a:xfrm>
            <a:off x="7150608" y="3675888"/>
            <a:ext cx="1463040" cy="347472"/>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8" name="Text 46"/>
          <p:cNvSpPr/>
          <p:nvPr/>
        </p:nvSpPr>
        <p:spPr>
          <a:xfrm>
            <a:off x="7150608" y="4059936"/>
            <a:ext cx="1463040" cy="640080"/>
          </a:xfrm>
          <a:prstGeom prst="rect">
            <a:avLst/>
          </a:prstGeom>
          <a:noFill/>
          <a:ln/>
        </p:spPr>
        <p:txBody>
          <a:bodyPr wrap="square" rtlCol="0" anchor="ctr"/>
          <a:lstStyle/>
          <a:p>
            <a:pPr marL="0" indent="0" algn="ctr">
              <a:buNone/>
            </a:pPr>
            <a:r>
              <a:rPr lang="en-US" sz="1000" dirty="0">
                <a:solidFill>
                  <a:srgbClr val="475569"/>
                </a:solidFill>
              </a:rPr>
              <a:t>Air quality</a:t>
            </a:r>
            <a:endParaRPr lang="en-US" sz="1000" dirty="0"/>
          </a:p>
          <a:p>
            <a:pPr marL="0" indent="0" algn="ctr">
              <a:buNone/>
            </a:pPr>
            <a:r>
              <a:rPr lang="en-US" sz="1000" dirty="0">
                <a:solidFill>
                  <a:srgbClr val="475569"/>
                </a:solidFill>
              </a:rPr>
              <a:t>history chart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F1032"/>
        </a:solidFill>
        <a:effectLst/>
      </p:bgPr>
    </p:bg>
    <p:spTree>
      <p:nvGrpSpPr>
        <p:cNvPr id="1" name=""/>
        <p:cNvGrpSpPr/>
        <p:nvPr/>
      </p:nvGrpSpPr>
      <p:grpSpPr>
        <a:xfrm>
          <a:off x="0" y="0"/>
          <a:ext cx="0" cy="0"/>
          <a:chOff x="0" y="0"/>
          <a:chExt cx="0" cy="0"/>
        </a:xfrm>
      </p:grpSpPr>
      <p:sp>
        <p:nvSpPr>
          <p:cNvPr id="47" name="Text 0">
            <a:extLst>
              <a:ext uri="{FF2B5EF4-FFF2-40B4-BE49-F238E27FC236}">
                <a16:creationId xmlns:a16="http://schemas.microsoft.com/office/drawing/2014/main" id="{AE6610DC-C23A-554E-F079-DBBC3FA3EAC6}"/>
              </a:ext>
            </a:extLst>
          </p:cNvPr>
          <p:cNvSpPr/>
          <p:nvPr/>
        </p:nvSpPr>
        <p:spPr>
          <a:xfrm>
            <a:off x="457200" y="164592"/>
            <a:ext cx="8229600" cy="475488"/>
          </a:xfrm>
          <a:prstGeom prst="rect">
            <a:avLst/>
          </a:prstGeom>
          <a:noFill/>
          <a:ln/>
        </p:spPr>
        <p:txBody>
          <a:bodyPr wrap="square" rtlCol="0" anchor="ctr"/>
          <a:lstStyle/>
          <a:p>
            <a:pPr marL="0" indent="0">
              <a:buNone/>
            </a:pPr>
            <a:r>
              <a:rPr lang="en-US" sz="2800" b="1" dirty="0">
                <a:solidFill>
                  <a:srgbClr val="FFFFFF"/>
                </a:solidFill>
              </a:rPr>
              <a:t>Conclusion</a:t>
            </a:r>
            <a:endParaRPr lang="en-US" sz="2800" dirty="0"/>
          </a:p>
        </p:txBody>
      </p:sp>
      <p:sp>
        <p:nvSpPr>
          <p:cNvPr id="48" name="Shape 1">
            <a:extLst>
              <a:ext uri="{FF2B5EF4-FFF2-40B4-BE49-F238E27FC236}">
                <a16:creationId xmlns:a16="http://schemas.microsoft.com/office/drawing/2014/main" id="{201951F6-8B90-BD3D-227D-2A129BD9FDD6}"/>
              </a:ext>
            </a:extLst>
          </p:cNvPr>
          <p:cNvSpPr/>
          <p:nvPr/>
        </p:nvSpPr>
        <p:spPr>
          <a:xfrm>
            <a:off x="358140" y="1923288"/>
            <a:ext cx="8412480" cy="5029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49" name="Shape 2">
            <a:extLst>
              <a:ext uri="{FF2B5EF4-FFF2-40B4-BE49-F238E27FC236}">
                <a16:creationId xmlns:a16="http://schemas.microsoft.com/office/drawing/2014/main" id="{7B353BB7-CBAF-8EA4-8989-4952A04ECA99}"/>
              </a:ext>
            </a:extLst>
          </p:cNvPr>
          <p:cNvSpPr/>
          <p:nvPr/>
        </p:nvSpPr>
        <p:spPr>
          <a:xfrm>
            <a:off x="358140" y="1923288"/>
            <a:ext cx="64008" cy="502920"/>
          </a:xfrm>
          <a:prstGeom prst="rect">
            <a:avLst/>
          </a:prstGeom>
          <a:solidFill>
            <a:srgbClr val="10B981"/>
          </a:solidFill>
          <a:ln w="12700">
            <a:solidFill>
              <a:srgbClr val="10B981"/>
            </a:solidFill>
            <a:prstDash val="solid"/>
          </a:ln>
        </p:spPr>
        <p:txBody>
          <a:bodyPr/>
          <a:lstStyle/>
          <a:p>
            <a:endParaRPr lang="en-US"/>
          </a:p>
        </p:txBody>
      </p:sp>
      <p:sp>
        <p:nvSpPr>
          <p:cNvPr id="50" name="Text 3">
            <a:extLst>
              <a:ext uri="{FF2B5EF4-FFF2-40B4-BE49-F238E27FC236}">
                <a16:creationId xmlns:a16="http://schemas.microsoft.com/office/drawing/2014/main" id="{1BEB0183-C307-4F8C-4286-7356A834FA47}"/>
              </a:ext>
            </a:extLst>
          </p:cNvPr>
          <p:cNvSpPr/>
          <p:nvPr/>
        </p:nvSpPr>
        <p:spPr>
          <a:xfrm>
            <a:off x="541020" y="1978152"/>
            <a:ext cx="2651760" cy="292608"/>
          </a:xfrm>
          <a:prstGeom prst="rect">
            <a:avLst/>
          </a:prstGeom>
          <a:noFill/>
          <a:ln/>
        </p:spPr>
        <p:txBody>
          <a:bodyPr wrap="square" rtlCol="0" anchor="ctr"/>
          <a:lstStyle/>
          <a:p>
            <a:pPr marL="0" indent="0">
              <a:buNone/>
            </a:pPr>
            <a:r>
              <a:rPr lang="en-US" sz="1200" b="1" dirty="0">
                <a:solidFill>
                  <a:srgbClr val="10B981"/>
                </a:solidFill>
              </a:rPr>
              <a:t>📡  Full IoT Pipeline Built</a:t>
            </a:r>
            <a:endParaRPr lang="en-US" sz="1200" dirty="0"/>
          </a:p>
        </p:txBody>
      </p:sp>
      <p:sp>
        <p:nvSpPr>
          <p:cNvPr id="51" name="Text 4">
            <a:extLst>
              <a:ext uri="{FF2B5EF4-FFF2-40B4-BE49-F238E27FC236}">
                <a16:creationId xmlns:a16="http://schemas.microsoft.com/office/drawing/2014/main" id="{9548DF59-0535-B711-1A6F-35E9209C71E5}"/>
              </a:ext>
            </a:extLst>
          </p:cNvPr>
          <p:cNvSpPr/>
          <p:nvPr/>
        </p:nvSpPr>
        <p:spPr>
          <a:xfrm>
            <a:off x="3329940" y="1978152"/>
            <a:ext cx="5303520" cy="384048"/>
          </a:xfrm>
          <a:prstGeom prst="rect">
            <a:avLst/>
          </a:prstGeom>
          <a:noFill/>
          <a:ln/>
        </p:spPr>
        <p:txBody>
          <a:bodyPr wrap="square" rtlCol="0" anchor="ctr"/>
          <a:lstStyle/>
          <a:p>
            <a:pPr marL="0" indent="0">
              <a:buNone/>
            </a:pPr>
            <a:r>
              <a:rPr lang="en-US" sz="1150" dirty="0">
                <a:solidFill>
                  <a:srgbClr val="94A3B8"/>
                </a:solidFill>
              </a:rPr>
              <a:t>ESP32 → FastAPI → PostgreSQL → Next.js — deployed live on Vercel + AWS EC2.</a:t>
            </a:r>
            <a:endParaRPr lang="en-US" sz="1150" dirty="0"/>
          </a:p>
        </p:txBody>
      </p:sp>
      <p:sp>
        <p:nvSpPr>
          <p:cNvPr id="52" name="Shape 5">
            <a:extLst>
              <a:ext uri="{FF2B5EF4-FFF2-40B4-BE49-F238E27FC236}">
                <a16:creationId xmlns:a16="http://schemas.microsoft.com/office/drawing/2014/main" id="{3C40378F-6B61-7AD0-598E-4C5B97B260CE}"/>
              </a:ext>
            </a:extLst>
          </p:cNvPr>
          <p:cNvSpPr/>
          <p:nvPr/>
        </p:nvSpPr>
        <p:spPr>
          <a:xfrm>
            <a:off x="358140" y="2508504"/>
            <a:ext cx="8412480" cy="5029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53" name="Shape 6">
            <a:extLst>
              <a:ext uri="{FF2B5EF4-FFF2-40B4-BE49-F238E27FC236}">
                <a16:creationId xmlns:a16="http://schemas.microsoft.com/office/drawing/2014/main" id="{AD0161C9-D1D9-7EFA-AF09-DC304694820F}"/>
              </a:ext>
            </a:extLst>
          </p:cNvPr>
          <p:cNvSpPr/>
          <p:nvPr/>
        </p:nvSpPr>
        <p:spPr>
          <a:xfrm>
            <a:off x="358140" y="2508504"/>
            <a:ext cx="64008" cy="502920"/>
          </a:xfrm>
          <a:prstGeom prst="rect">
            <a:avLst/>
          </a:prstGeom>
          <a:solidFill>
            <a:srgbClr val="0EA5E9"/>
          </a:solidFill>
          <a:ln w="12700">
            <a:solidFill>
              <a:srgbClr val="0EA5E9"/>
            </a:solidFill>
            <a:prstDash val="solid"/>
          </a:ln>
        </p:spPr>
        <p:txBody>
          <a:bodyPr/>
          <a:lstStyle/>
          <a:p>
            <a:endParaRPr lang="en-US"/>
          </a:p>
        </p:txBody>
      </p:sp>
      <p:sp>
        <p:nvSpPr>
          <p:cNvPr id="54" name="Text 7">
            <a:extLst>
              <a:ext uri="{FF2B5EF4-FFF2-40B4-BE49-F238E27FC236}">
                <a16:creationId xmlns:a16="http://schemas.microsoft.com/office/drawing/2014/main" id="{1DBE6903-5EDE-3D96-78A2-D4EB15E8DC5F}"/>
              </a:ext>
            </a:extLst>
          </p:cNvPr>
          <p:cNvSpPr/>
          <p:nvPr/>
        </p:nvSpPr>
        <p:spPr>
          <a:xfrm>
            <a:off x="541020" y="2563368"/>
            <a:ext cx="2651760" cy="292608"/>
          </a:xfrm>
          <a:prstGeom prst="rect">
            <a:avLst/>
          </a:prstGeom>
          <a:noFill/>
          <a:ln/>
        </p:spPr>
        <p:txBody>
          <a:bodyPr wrap="square" rtlCol="0" anchor="ctr"/>
          <a:lstStyle/>
          <a:p>
            <a:pPr marL="0" indent="0">
              <a:buNone/>
            </a:pPr>
            <a:r>
              <a:rPr lang="en-US" sz="1200" b="1" dirty="0">
                <a:solidFill>
                  <a:srgbClr val="0EA5E9"/>
                </a:solidFill>
              </a:rPr>
              <a:t>🗄️  3-Stage Database Evolution</a:t>
            </a:r>
            <a:endParaRPr lang="en-US" sz="1200" dirty="0"/>
          </a:p>
        </p:txBody>
      </p:sp>
      <p:sp>
        <p:nvSpPr>
          <p:cNvPr id="55" name="Text 8">
            <a:extLst>
              <a:ext uri="{FF2B5EF4-FFF2-40B4-BE49-F238E27FC236}">
                <a16:creationId xmlns:a16="http://schemas.microsoft.com/office/drawing/2014/main" id="{1DF8EBF2-7FA1-F281-E534-84E0FAF53E33}"/>
              </a:ext>
            </a:extLst>
          </p:cNvPr>
          <p:cNvSpPr/>
          <p:nvPr/>
        </p:nvSpPr>
        <p:spPr>
          <a:xfrm>
            <a:off x="3329940" y="2563368"/>
            <a:ext cx="5303520" cy="384048"/>
          </a:xfrm>
          <a:prstGeom prst="rect">
            <a:avLst/>
          </a:prstGeom>
          <a:noFill/>
          <a:ln/>
        </p:spPr>
        <p:txBody>
          <a:bodyPr wrap="square" rtlCol="0" anchor="ctr"/>
          <a:lstStyle/>
          <a:p>
            <a:pPr marL="0" indent="0">
              <a:buNone/>
            </a:pPr>
            <a:r>
              <a:rPr lang="en-US" sz="1150" dirty="0">
                <a:solidFill>
                  <a:srgbClr val="94A3B8"/>
                </a:solidFill>
              </a:rPr>
              <a:t>scan_session → active_room → scan_point. Each step simpler and more powerful.</a:t>
            </a:r>
            <a:endParaRPr lang="en-US" sz="1150" dirty="0"/>
          </a:p>
        </p:txBody>
      </p:sp>
      <p:sp>
        <p:nvSpPr>
          <p:cNvPr id="56" name="Shape 9">
            <a:extLst>
              <a:ext uri="{FF2B5EF4-FFF2-40B4-BE49-F238E27FC236}">
                <a16:creationId xmlns:a16="http://schemas.microsoft.com/office/drawing/2014/main" id="{BC2AEFB3-6776-2C19-E081-41467A6CD0B1}"/>
              </a:ext>
            </a:extLst>
          </p:cNvPr>
          <p:cNvSpPr/>
          <p:nvPr/>
        </p:nvSpPr>
        <p:spPr>
          <a:xfrm>
            <a:off x="358140" y="3093720"/>
            <a:ext cx="8412480" cy="5029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57" name="Shape 10">
            <a:extLst>
              <a:ext uri="{FF2B5EF4-FFF2-40B4-BE49-F238E27FC236}">
                <a16:creationId xmlns:a16="http://schemas.microsoft.com/office/drawing/2014/main" id="{A8AB7B13-2E24-822F-71D4-7B8F6C254632}"/>
              </a:ext>
            </a:extLst>
          </p:cNvPr>
          <p:cNvSpPr/>
          <p:nvPr/>
        </p:nvSpPr>
        <p:spPr>
          <a:xfrm>
            <a:off x="358140" y="3093720"/>
            <a:ext cx="64008" cy="502920"/>
          </a:xfrm>
          <a:prstGeom prst="rect">
            <a:avLst/>
          </a:prstGeom>
          <a:solidFill>
            <a:srgbClr val="F59E0B"/>
          </a:solidFill>
          <a:ln w="12700">
            <a:solidFill>
              <a:srgbClr val="F59E0B"/>
            </a:solidFill>
            <a:prstDash val="solid"/>
          </a:ln>
        </p:spPr>
        <p:txBody>
          <a:bodyPr/>
          <a:lstStyle/>
          <a:p>
            <a:endParaRPr lang="en-US" dirty="0"/>
          </a:p>
        </p:txBody>
      </p:sp>
      <p:sp>
        <p:nvSpPr>
          <p:cNvPr id="58" name="Text 11">
            <a:extLst>
              <a:ext uri="{FF2B5EF4-FFF2-40B4-BE49-F238E27FC236}">
                <a16:creationId xmlns:a16="http://schemas.microsoft.com/office/drawing/2014/main" id="{09863A42-82B6-C651-F302-7939002EDCA1}"/>
              </a:ext>
            </a:extLst>
          </p:cNvPr>
          <p:cNvSpPr/>
          <p:nvPr/>
        </p:nvSpPr>
        <p:spPr>
          <a:xfrm>
            <a:off x="541020" y="3148584"/>
            <a:ext cx="2651760" cy="292608"/>
          </a:xfrm>
          <a:prstGeom prst="rect">
            <a:avLst/>
          </a:prstGeom>
          <a:noFill/>
          <a:ln/>
        </p:spPr>
        <p:txBody>
          <a:bodyPr wrap="square" rtlCol="0" anchor="ctr"/>
          <a:lstStyle/>
          <a:p>
            <a:pPr marL="0" indent="0">
              <a:buNone/>
            </a:pPr>
            <a:r>
              <a:rPr lang="en-US" sz="1200" b="1" dirty="0">
                <a:solidFill>
                  <a:srgbClr val="F59E0B"/>
                </a:solidFill>
              </a:rPr>
              <a:t>☁️  Cloud Deployment Solved</a:t>
            </a:r>
            <a:endParaRPr lang="en-US" sz="1200" dirty="0"/>
          </a:p>
        </p:txBody>
      </p:sp>
      <p:sp>
        <p:nvSpPr>
          <p:cNvPr id="59" name="Text 12">
            <a:extLst>
              <a:ext uri="{FF2B5EF4-FFF2-40B4-BE49-F238E27FC236}">
                <a16:creationId xmlns:a16="http://schemas.microsoft.com/office/drawing/2014/main" id="{8F612116-7384-CE8F-0AC0-D5F9155700FB}"/>
              </a:ext>
            </a:extLst>
          </p:cNvPr>
          <p:cNvSpPr/>
          <p:nvPr/>
        </p:nvSpPr>
        <p:spPr>
          <a:xfrm>
            <a:off x="3329940" y="3148584"/>
            <a:ext cx="5303520" cy="384048"/>
          </a:xfrm>
          <a:prstGeom prst="rect">
            <a:avLst/>
          </a:prstGeom>
          <a:noFill/>
          <a:ln/>
        </p:spPr>
        <p:txBody>
          <a:bodyPr wrap="square" rtlCol="0" anchor="ctr"/>
          <a:lstStyle/>
          <a:p>
            <a:pPr marL="0" indent="0">
              <a:buNone/>
            </a:pPr>
            <a:r>
              <a:rPr lang="en-US" sz="1150" dirty="0">
                <a:solidFill>
                  <a:srgbClr val="94A3B8"/>
                </a:solidFill>
              </a:rPr>
              <a:t>Frontend on Vercel, backend on EC2 + Nginx + DuckDNS + HTTPS — fully live.</a:t>
            </a:r>
            <a:endParaRPr lang="en-US" sz="1150" dirty="0"/>
          </a:p>
        </p:txBody>
      </p:sp>
      <p:sp>
        <p:nvSpPr>
          <p:cNvPr id="60" name="Shape 13">
            <a:extLst>
              <a:ext uri="{FF2B5EF4-FFF2-40B4-BE49-F238E27FC236}">
                <a16:creationId xmlns:a16="http://schemas.microsoft.com/office/drawing/2014/main" id="{825EB46B-8F71-A826-C125-936B3BFF8B03}"/>
              </a:ext>
            </a:extLst>
          </p:cNvPr>
          <p:cNvSpPr/>
          <p:nvPr/>
        </p:nvSpPr>
        <p:spPr>
          <a:xfrm>
            <a:off x="358140" y="3678936"/>
            <a:ext cx="8412480" cy="5029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61" name="Shape 14">
            <a:extLst>
              <a:ext uri="{FF2B5EF4-FFF2-40B4-BE49-F238E27FC236}">
                <a16:creationId xmlns:a16="http://schemas.microsoft.com/office/drawing/2014/main" id="{09060290-0ACA-D6AE-0B07-7C72B3C29E0D}"/>
              </a:ext>
            </a:extLst>
          </p:cNvPr>
          <p:cNvSpPr/>
          <p:nvPr/>
        </p:nvSpPr>
        <p:spPr>
          <a:xfrm>
            <a:off x="358140" y="3678936"/>
            <a:ext cx="64008" cy="502920"/>
          </a:xfrm>
          <a:prstGeom prst="rect">
            <a:avLst/>
          </a:prstGeom>
          <a:solidFill>
            <a:srgbClr val="EF4444"/>
          </a:solidFill>
          <a:ln w="12700">
            <a:solidFill>
              <a:srgbClr val="EF4444"/>
            </a:solidFill>
            <a:prstDash val="solid"/>
          </a:ln>
        </p:spPr>
        <p:txBody>
          <a:bodyPr/>
          <a:lstStyle/>
          <a:p>
            <a:endParaRPr lang="en-US"/>
          </a:p>
        </p:txBody>
      </p:sp>
      <p:sp>
        <p:nvSpPr>
          <p:cNvPr id="62" name="Text 15">
            <a:extLst>
              <a:ext uri="{FF2B5EF4-FFF2-40B4-BE49-F238E27FC236}">
                <a16:creationId xmlns:a16="http://schemas.microsoft.com/office/drawing/2014/main" id="{C41A6CA8-5820-D428-3DA5-4C2A036DBA88}"/>
              </a:ext>
            </a:extLst>
          </p:cNvPr>
          <p:cNvSpPr/>
          <p:nvPr/>
        </p:nvSpPr>
        <p:spPr>
          <a:xfrm>
            <a:off x="541020" y="3733800"/>
            <a:ext cx="2651760" cy="292608"/>
          </a:xfrm>
          <a:prstGeom prst="rect">
            <a:avLst/>
          </a:prstGeom>
          <a:noFill/>
          <a:ln/>
        </p:spPr>
        <p:txBody>
          <a:bodyPr wrap="square" rtlCol="0" anchor="ctr"/>
          <a:lstStyle/>
          <a:p>
            <a:pPr marL="0" indent="0">
              <a:buNone/>
            </a:pPr>
            <a:r>
              <a:rPr lang="en-US" sz="1200" b="1" dirty="0">
                <a:solidFill>
                  <a:srgbClr val="EF4444"/>
                </a:solidFill>
              </a:rPr>
              <a:t>🧪  Multi-Layer Testing</a:t>
            </a:r>
            <a:endParaRPr lang="en-US" sz="1200" dirty="0"/>
          </a:p>
        </p:txBody>
      </p:sp>
      <p:sp>
        <p:nvSpPr>
          <p:cNvPr id="63" name="Text 16">
            <a:extLst>
              <a:ext uri="{FF2B5EF4-FFF2-40B4-BE49-F238E27FC236}">
                <a16:creationId xmlns:a16="http://schemas.microsoft.com/office/drawing/2014/main" id="{4838711F-BEE1-78CD-530A-9793F918F511}"/>
              </a:ext>
            </a:extLst>
          </p:cNvPr>
          <p:cNvSpPr/>
          <p:nvPr/>
        </p:nvSpPr>
        <p:spPr>
          <a:xfrm>
            <a:off x="3329940" y="3733800"/>
            <a:ext cx="5303520" cy="384048"/>
          </a:xfrm>
          <a:prstGeom prst="rect">
            <a:avLst/>
          </a:prstGeom>
          <a:noFill/>
          <a:ln/>
        </p:spPr>
        <p:txBody>
          <a:bodyPr wrap="square" rtlCol="0" anchor="ctr"/>
          <a:lstStyle/>
          <a:p>
            <a:pPr marL="0" indent="0">
              <a:buNone/>
            </a:pPr>
            <a:r>
              <a:rPr lang="en-US" sz="1150" dirty="0">
                <a:solidFill>
                  <a:srgbClr val="94A3B8"/>
                </a:solidFill>
              </a:rPr>
              <a:t>Unit (pytest), E2E (Playwright), UI (Jest), and manual — across the full stack.</a:t>
            </a:r>
            <a:endParaRPr lang="en-US" sz="1150" dirty="0"/>
          </a:p>
        </p:txBody>
      </p:sp>
      <p:sp>
        <p:nvSpPr>
          <p:cNvPr id="64" name="Shape 17">
            <a:extLst>
              <a:ext uri="{FF2B5EF4-FFF2-40B4-BE49-F238E27FC236}">
                <a16:creationId xmlns:a16="http://schemas.microsoft.com/office/drawing/2014/main" id="{0B0AD7C6-1695-33D4-9458-E2102AF5F9FE}"/>
              </a:ext>
            </a:extLst>
          </p:cNvPr>
          <p:cNvSpPr/>
          <p:nvPr/>
        </p:nvSpPr>
        <p:spPr>
          <a:xfrm>
            <a:off x="358140" y="4264152"/>
            <a:ext cx="8412480" cy="502920"/>
          </a:xfrm>
          <a:prstGeom prst="rect">
            <a:avLst/>
          </a:prstGeom>
          <a:solidFill>
            <a:srgbClr val="112236"/>
          </a:solidFill>
          <a:ln w="12700">
            <a:solidFill>
              <a:srgbClr val="112236"/>
            </a:solidFill>
            <a:prstDash val="solid"/>
          </a:ln>
          <a:effectLst>
            <a:outerShdw blurRad="101600" dist="38100" dir="8100000" algn="bl" rotWithShape="0">
              <a:srgbClr val="000000">
                <a:alpha val="18000"/>
              </a:srgbClr>
            </a:outerShdw>
          </a:effectLst>
        </p:spPr>
        <p:txBody>
          <a:bodyPr/>
          <a:lstStyle/>
          <a:p>
            <a:endParaRPr lang="en-US"/>
          </a:p>
        </p:txBody>
      </p:sp>
      <p:sp>
        <p:nvSpPr>
          <p:cNvPr id="65" name="Shape 18">
            <a:extLst>
              <a:ext uri="{FF2B5EF4-FFF2-40B4-BE49-F238E27FC236}">
                <a16:creationId xmlns:a16="http://schemas.microsoft.com/office/drawing/2014/main" id="{6E3B6252-9BF3-1DF4-9740-93409B897ED6}"/>
              </a:ext>
            </a:extLst>
          </p:cNvPr>
          <p:cNvSpPr/>
          <p:nvPr/>
        </p:nvSpPr>
        <p:spPr>
          <a:xfrm>
            <a:off x="358140" y="4264152"/>
            <a:ext cx="64008" cy="502920"/>
          </a:xfrm>
          <a:prstGeom prst="rect">
            <a:avLst/>
          </a:prstGeom>
          <a:solidFill>
            <a:srgbClr val="94A3B8"/>
          </a:solidFill>
          <a:ln w="12700">
            <a:solidFill>
              <a:srgbClr val="94A3B8"/>
            </a:solidFill>
            <a:prstDash val="solid"/>
          </a:ln>
        </p:spPr>
        <p:txBody>
          <a:bodyPr/>
          <a:lstStyle/>
          <a:p>
            <a:endParaRPr lang="en-US"/>
          </a:p>
        </p:txBody>
      </p:sp>
      <p:sp>
        <p:nvSpPr>
          <p:cNvPr id="66" name="Text 19">
            <a:extLst>
              <a:ext uri="{FF2B5EF4-FFF2-40B4-BE49-F238E27FC236}">
                <a16:creationId xmlns:a16="http://schemas.microsoft.com/office/drawing/2014/main" id="{F26B74F0-8207-834E-FCA2-BC4E61C1C914}"/>
              </a:ext>
            </a:extLst>
          </p:cNvPr>
          <p:cNvSpPr/>
          <p:nvPr/>
        </p:nvSpPr>
        <p:spPr>
          <a:xfrm>
            <a:off x="541020" y="4319016"/>
            <a:ext cx="2651760" cy="292608"/>
          </a:xfrm>
          <a:prstGeom prst="rect">
            <a:avLst/>
          </a:prstGeom>
          <a:noFill/>
          <a:ln/>
        </p:spPr>
        <p:txBody>
          <a:bodyPr wrap="square" rtlCol="0" anchor="ctr"/>
          <a:lstStyle/>
          <a:p>
            <a:pPr marL="0" indent="0">
              <a:buNone/>
            </a:pPr>
            <a:r>
              <a:rPr lang="en-US" sz="1200" b="1" dirty="0">
                <a:solidFill>
                  <a:srgbClr val="94A3B8"/>
                </a:solidFill>
              </a:rPr>
              <a:t>🤖  AI-Assisted Development</a:t>
            </a:r>
            <a:endParaRPr lang="en-US" sz="1200" dirty="0"/>
          </a:p>
        </p:txBody>
      </p:sp>
      <p:sp>
        <p:nvSpPr>
          <p:cNvPr id="67" name="Text 20">
            <a:extLst>
              <a:ext uri="{FF2B5EF4-FFF2-40B4-BE49-F238E27FC236}">
                <a16:creationId xmlns:a16="http://schemas.microsoft.com/office/drawing/2014/main" id="{CF305999-D54C-2895-1D6C-3B8E45761866}"/>
              </a:ext>
            </a:extLst>
          </p:cNvPr>
          <p:cNvSpPr/>
          <p:nvPr/>
        </p:nvSpPr>
        <p:spPr>
          <a:xfrm>
            <a:off x="3329940" y="4319016"/>
            <a:ext cx="5303520" cy="384048"/>
          </a:xfrm>
          <a:prstGeom prst="rect">
            <a:avLst/>
          </a:prstGeom>
          <a:noFill/>
          <a:ln/>
        </p:spPr>
        <p:txBody>
          <a:bodyPr wrap="square" rtlCol="0" anchor="ctr"/>
          <a:lstStyle/>
          <a:p>
            <a:pPr marL="0" indent="0">
              <a:buNone/>
            </a:pPr>
            <a:r>
              <a:rPr lang="en-US" sz="1150" dirty="0">
                <a:solidFill>
                  <a:srgbClr val="94A3B8"/>
                </a:solidFill>
              </a:rPr>
              <a:t>Claude, ChatGPT, Amazon Q, and Figma AI — used responsibly with full prompt logs.</a:t>
            </a:r>
            <a:endParaRPr lang="en-US" sz="1150" dirty="0"/>
          </a:p>
        </p:txBody>
      </p:sp>
      <p:sp>
        <p:nvSpPr>
          <p:cNvPr id="68" name="Shape 21">
            <a:extLst>
              <a:ext uri="{FF2B5EF4-FFF2-40B4-BE49-F238E27FC236}">
                <a16:creationId xmlns:a16="http://schemas.microsoft.com/office/drawing/2014/main" id="{1146E192-AE00-5A63-8163-8D4FDE62FE77}"/>
              </a:ext>
            </a:extLst>
          </p:cNvPr>
          <p:cNvSpPr/>
          <p:nvPr/>
        </p:nvSpPr>
        <p:spPr>
          <a:xfrm>
            <a:off x="358140" y="797052"/>
            <a:ext cx="8412480" cy="1005840"/>
          </a:xfrm>
          <a:prstGeom prst="rect">
            <a:avLst/>
          </a:prstGeom>
          <a:solidFill>
            <a:srgbClr val="0D2240"/>
          </a:solidFill>
          <a:ln w="15240">
            <a:solidFill>
              <a:srgbClr val="0EA5E9"/>
            </a:solidFill>
            <a:prstDash val="solid"/>
          </a:ln>
          <a:effectLst>
            <a:outerShdw blurRad="101600" dist="38100" dir="8100000" algn="bl" rotWithShape="0">
              <a:srgbClr val="000000">
                <a:alpha val="18000"/>
              </a:srgbClr>
            </a:outerShdw>
          </a:effectLst>
        </p:spPr>
        <p:txBody>
          <a:bodyPr/>
          <a:lstStyle/>
          <a:p>
            <a:endParaRPr lang="en-US"/>
          </a:p>
        </p:txBody>
      </p:sp>
      <p:sp>
        <p:nvSpPr>
          <p:cNvPr id="69" name="Text 22">
            <a:extLst>
              <a:ext uri="{FF2B5EF4-FFF2-40B4-BE49-F238E27FC236}">
                <a16:creationId xmlns:a16="http://schemas.microsoft.com/office/drawing/2014/main" id="{6A0B6092-CBF1-DC3E-8004-E4675232723E}"/>
              </a:ext>
            </a:extLst>
          </p:cNvPr>
          <p:cNvSpPr/>
          <p:nvPr/>
        </p:nvSpPr>
        <p:spPr>
          <a:xfrm>
            <a:off x="490728" y="784860"/>
            <a:ext cx="8092440" cy="950976"/>
          </a:xfrm>
          <a:prstGeom prst="rect">
            <a:avLst/>
          </a:prstGeom>
          <a:noFill/>
          <a:ln/>
        </p:spPr>
        <p:txBody>
          <a:bodyPr wrap="square" rtlCol="0" anchor="t"/>
          <a:lstStyle/>
          <a:p>
            <a:pPr marL="0" indent="0">
              <a:buNone/>
            </a:pPr>
            <a:r>
              <a:rPr lang="en-US" sz="1100" b="1" dirty="0">
                <a:solidFill>
                  <a:srgbClr val="0EA5E9"/>
                </a:solidFill>
              </a:rPr>
              <a:t>MSSIA — Multi-Sensor Spatial Intelligence &amp; Analytics Platform  </a:t>
            </a:r>
            <a:endParaRPr lang="en-US" sz="1100" dirty="0"/>
          </a:p>
          <a:p>
            <a:pPr marL="0" indent="0">
              <a:buNone/>
            </a:pPr>
            <a:r>
              <a:rPr lang="en-US" sz="980" dirty="0">
                <a:solidFill>
                  <a:srgbClr val="FFFFFF"/>
                </a:solidFill>
              </a:rPr>
              <a:t>proves that a single generic platform can ingest readings from any sensor, map them spatially onto a floor plan, and visualise them as live interactive heatmaps accessible from any browser. The four sensor types demonstrated (Wi-Fi, Temperature, Humidity, Air Quality) each produce distinct colour-differentiated heatmaps — confirming the concept works end-to-end from hardware to cloud to user. Unlike commercial systems such as NetSpot which focus only on Wi-Fi, MSSIA is not limited to a single data type. Built from open-source hardware and free-tier cloud services, it delivers comparable insight at a fraction of the cost.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F1032"/>
        </a:solidFill>
        <a:effectLst/>
      </p:bgPr>
    </p:bg>
    <p:spTree>
      <p:nvGrpSpPr>
        <p:cNvPr id="1" name=""/>
        <p:cNvGrpSpPr/>
        <p:nvPr/>
      </p:nvGrpSpPr>
      <p:grpSpPr>
        <a:xfrm>
          <a:off x="0" y="0"/>
          <a:ext cx="0" cy="0"/>
          <a:chOff x="0" y="0"/>
          <a:chExt cx="0" cy="0"/>
        </a:xfrm>
      </p:grpSpPr>
      <p:sp>
        <p:nvSpPr>
          <p:cNvPr id="2" name="Text 0"/>
          <p:cNvSpPr/>
          <p:nvPr/>
        </p:nvSpPr>
        <p:spPr>
          <a:xfrm>
            <a:off x="0" y="256032"/>
            <a:ext cx="9144000" cy="640080"/>
          </a:xfrm>
          <a:prstGeom prst="rect">
            <a:avLst/>
          </a:prstGeom>
          <a:noFill/>
          <a:ln/>
        </p:spPr>
        <p:txBody>
          <a:bodyPr wrap="square" rtlCol="0" anchor="ctr"/>
          <a:lstStyle/>
          <a:p>
            <a:pPr marL="0" indent="0" algn="ctr">
              <a:buNone/>
            </a:pPr>
            <a:r>
              <a:rPr lang="en-US" sz="3400" b="1" dirty="0">
                <a:solidFill>
                  <a:srgbClr val="FFFFFF"/>
                </a:solidFill>
              </a:rPr>
              <a:t>Try It Live</a:t>
            </a:r>
            <a:endParaRPr lang="en-US" sz="3400" dirty="0"/>
          </a:p>
        </p:txBody>
      </p:sp>
      <p:sp>
        <p:nvSpPr>
          <p:cNvPr id="3" name="Text 1"/>
          <p:cNvSpPr/>
          <p:nvPr/>
        </p:nvSpPr>
        <p:spPr>
          <a:xfrm>
            <a:off x="0" y="868680"/>
            <a:ext cx="9144000" cy="320040"/>
          </a:xfrm>
          <a:prstGeom prst="rect">
            <a:avLst/>
          </a:prstGeom>
          <a:noFill/>
          <a:ln/>
        </p:spPr>
        <p:txBody>
          <a:bodyPr wrap="square" rtlCol="0" anchor="ctr"/>
          <a:lstStyle/>
          <a:p>
            <a:pPr marL="0" indent="0" algn="ctr">
              <a:buNone/>
            </a:pPr>
            <a:r>
              <a:rPr lang="en-US" sz="1400" i="1" dirty="0">
                <a:solidFill>
                  <a:srgbClr val="94A3B8"/>
                </a:solidFill>
              </a:rPr>
              <a:t>Scan the QR code or visit the link below</a:t>
            </a:r>
            <a:endParaRPr lang="en-US" sz="1400" dirty="0"/>
          </a:p>
        </p:txBody>
      </p:sp>
      <p:pic>
        <p:nvPicPr>
          <p:cNvPr id="4" name="Image 0" descr="preencoded.png"/>
          <p:cNvPicPr>
            <a:picLocks noChangeAspect="1"/>
          </p:cNvPicPr>
          <p:nvPr/>
        </p:nvPicPr>
        <p:blipFill>
          <a:blip r:embed="rId3"/>
          <a:stretch>
            <a:fillRect/>
          </a:stretch>
        </p:blipFill>
        <p:spPr>
          <a:xfrm>
            <a:off x="3154680" y="1261872"/>
            <a:ext cx="2834640" cy="2834640"/>
          </a:xfrm>
          <a:prstGeom prst="rect">
            <a:avLst/>
          </a:prstGeom>
        </p:spPr>
      </p:pic>
      <p:sp>
        <p:nvSpPr>
          <p:cNvPr id="5" name="Shape 2"/>
          <p:cNvSpPr/>
          <p:nvPr/>
        </p:nvSpPr>
        <p:spPr>
          <a:xfrm>
            <a:off x="1371600" y="4224528"/>
            <a:ext cx="6400800" cy="548640"/>
          </a:xfrm>
          <a:prstGeom prst="rect">
            <a:avLst/>
          </a:prstGeom>
          <a:solidFill>
            <a:srgbClr val="112236"/>
          </a:solidFill>
          <a:ln w="19050">
            <a:solidFill>
              <a:srgbClr val="0EA5E9"/>
            </a:solidFill>
            <a:prstDash val="solid"/>
          </a:ln>
          <a:effectLst>
            <a:outerShdw blurRad="101600" dist="38100" dir="8100000" algn="bl" rotWithShape="0">
              <a:srgbClr val="000000">
                <a:alpha val="18000"/>
              </a:srgbClr>
            </a:outerShdw>
          </a:effectLst>
        </p:spPr>
        <p:txBody>
          <a:bodyPr/>
          <a:lstStyle/>
          <a:p>
            <a:endParaRPr lang="en-US"/>
          </a:p>
        </p:txBody>
      </p:sp>
      <p:sp>
        <p:nvSpPr>
          <p:cNvPr id="6" name="Text 3"/>
          <p:cNvSpPr/>
          <p:nvPr/>
        </p:nvSpPr>
        <p:spPr>
          <a:xfrm>
            <a:off x="1371600" y="4224528"/>
            <a:ext cx="6400800" cy="548640"/>
          </a:xfrm>
          <a:prstGeom prst="rect">
            <a:avLst/>
          </a:prstGeom>
          <a:noFill/>
          <a:ln/>
        </p:spPr>
        <p:txBody>
          <a:bodyPr wrap="square" lIns="0" tIns="0" rIns="0" bIns="0" rtlCol="0" anchor="ctr"/>
          <a:lstStyle/>
          <a:p>
            <a:pPr marL="0" indent="0" algn="ctr">
              <a:buNone/>
            </a:pPr>
            <a:r>
              <a:rPr lang="en-US" sz="1300" b="1" dirty="0">
                <a:solidFill>
                  <a:srgbClr val="0EA5E9"/>
                </a:solidFill>
                <a:latin typeface="Consolas" pitchFamily="34" charset="0"/>
                <a:ea typeface="Consolas" pitchFamily="34" charset="-122"/>
                <a:cs typeface="Consolas" pitchFamily="34" charset="-120"/>
              </a:rPr>
              <a:t>final-year-project-alpha-azure.vercel.app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032"/>
        </a:solidFill>
        <a:effectLst/>
      </p:bgPr>
    </p:bg>
    <p:spTree>
      <p:nvGrpSpPr>
        <p:cNvPr id="1" name="">
          <a:extLst>
            <a:ext uri="{FF2B5EF4-FFF2-40B4-BE49-F238E27FC236}">
              <a16:creationId xmlns:a16="http://schemas.microsoft.com/office/drawing/2014/main" id="{BAA32EF5-79B4-27E2-0429-1E10A8710F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91A83FE-931A-F199-BFA6-0DC828500DB2}"/>
              </a:ext>
            </a:extLst>
          </p:cNvPr>
          <p:cNvSpPr/>
          <p:nvPr/>
        </p:nvSpPr>
        <p:spPr>
          <a:xfrm>
            <a:off x="1316736" y="1634490"/>
            <a:ext cx="6345936" cy="1874520"/>
          </a:xfrm>
          <a:prstGeom prst="rect">
            <a:avLst/>
          </a:prstGeom>
          <a:noFill/>
          <a:ln/>
        </p:spPr>
        <p:txBody>
          <a:bodyPr wrap="square" rtlCol="0" anchor="ctr"/>
          <a:lstStyle/>
          <a:p>
            <a:pPr marL="0" indent="0" algn="ctr">
              <a:buNone/>
            </a:pPr>
            <a:r>
              <a:rPr lang="en-US" sz="3400" b="1">
                <a:solidFill>
                  <a:srgbClr val="FFFFFF"/>
                </a:solidFill>
              </a:rPr>
              <a:t>Thank you  for listening</a:t>
            </a:r>
          </a:p>
          <a:p>
            <a:pPr marL="0" indent="0" algn="ctr">
              <a:buNone/>
            </a:pPr>
            <a:r>
              <a:rPr lang="en-US" sz="3400" b="1">
                <a:solidFill>
                  <a:srgbClr val="FFFFFF"/>
                </a:solidFill>
              </a:rPr>
              <a:t>Any Questions? </a:t>
            </a:r>
          </a:p>
          <a:p>
            <a:pPr marL="0" indent="0" algn="ctr">
              <a:buNone/>
            </a:pPr>
            <a:endParaRPr lang="en-US" sz="3400" dirty="0"/>
          </a:p>
        </p:txBody>
      </p:sp>
    </p:spTree>
    <p:extLst>
      <p:ext uri="{BB962C8B-B14F-4D97-AF65-F5344CB8AC3E}">
        <p14:creationId xmlns:p14="http://schemas.microsoft.com/office/powerpoint/2010/main" val="3352734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855545-00bb-4800-a65f-e79104ec0fc4}" enabled="0" method="" siteId="{47855545-00bb-4800-a65f-e79104ec0fc4}" removed="1"/>
</clbl:labelList>
</file>

<file path=docProps/app.xml><?xml version="1.0" encoding="utf-8"?>
<Properties xmlns="http://schemas.openxmlformats.org/officeDocument/2006/extended-properties" xmlns:vt="http://schemas.openxmlformats.org/officeDocument/2006/docPropsVTypes">
  <TotalTime>356</TotalTime>
  <Words>1031</Words>
  <Application>Microsoft Macintosh PowerPoint</Application>
  <PresentationFormat>On-screen Show (16:9)</PresentationFormat>
  <Paragraphs>154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Consolas</vt:lpstr>
      <vt:lpstr>Libre Baskerville</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MSSIA – FYP Presentation</dc:title>
  <dc:subject>PptxGenJS Presentation</dc:subject>
  <dc:creator>PptxGenJS</dc:creator>
  <cp:lastModifiedBy>NOKUVIMBA CHIYAKA - STUDENT</cp:lastModifiedBy>
  <cp:revision>1</cp:revision>
  <dcterms:created xsi:type="dcterms:W3CDTF">2026-04-26T12:47:27Z</dcterms:created>
  <dcterms:modified xsi:type="dcterms:W3CDTF">2026-04-27T21:34:15Z</dcterms:modified>
</cp:coreProperties>
</file>